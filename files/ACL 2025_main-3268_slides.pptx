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notesSlides/notesSlide3.xml" ContentType="application/vnd.openxmlformats-officedocument.presentationml.notesSlide+xml"/>
  <Override PartName="/ppt/tags/tag2.xml" ContentType="application/vnd.openxmlformats-officedocument.presentationml.tags+xml"/>
  <Override PartName="/ppt/notesSlides/notesSlide4.xml" ContentType="application/vnd.openxmlformats-officedocument.presentationml.notesSlide+xml"/>
  <Override PartName="/ppt/tags/tag3.xml" ContentType="application/vnd.openxmlformats-officedocument.presentationml.tags+xml"/>
  <Override PartName="/ppt/notesSlides/notesSlide5.xml" ContentType="application/vnd.openxmlformats-officedocument.presentationml.notesSlide+xml"/>
  <Override PartName="/ppt/tags/tag4.xml" ContentType="application/vnd.openxmlformats-officedocument.presentationml.tags+xml"/>
  <Override PartName="/ppt/notesSlides/notesSlide6.xml" ContentType="application/vnd.openxmlformats-officedocument.presentationml.notesSlide+xml"/>
  <Override PartName="/ppt/tags/tag5.xml" ContentType="application/vnd.openxmlformats-officedocument.presentationml.tags+xml"/>
  <Override PartName="/ppt/notesSlides/notesSlide7.xml" ContentType="application/vnd.openxmlformats-officedocument.presentationml.notesSlide+xml"/>
  <Override PartName="/ppt/tags/tag6.xml" ContentType="application/vnd.openxmlformats-officedocument.presentationml.tags+xml"/>
  <Override PartName="/ppt/notesSlides/notesSlide8.xml" ContentType="application/vnd.openxmlformats-officedocument.presentationml.notesSlide+xml"/>
  <Override PartName="/ppt/tags/tag7.xml" ContentType="application/vnd.openxmlformats-officedocument.presentationml.tags+xml"/>
  <Override PartName="/ppt/notesSlides/notesSlide9.xml" ContentType="application/vnd.openxmlformats-officedocument.presentationml.notesSlide+xml"/>
  <Override PartName="/ppt/tags/tag8.xml" ContentType="application/vnd.openxmlformats-officedocument.presentationml.tags+xml"/>
  <Override PartName="/ppt/notesSlides/notesSlide10.xml" ContentType="application/vnd.openxmlformats-officedocument.presentationml.notesSlide+xml"/>
  <Override PartName="/ppt/tags/tag9.xml" ContentType="application/vnd.openxmlformats-officedocument.presentationml.tags+xml"/>
  <Override PartName="/ppt/notesSlides/notesSlide11.xml" ContentType="application/vnd.openxmlformats-officedocument.presentationml.notesSlide+xml"/>
  <Override PartName="/ppt/tags/tag10.xml" ContentType="application/vnd.openxmlformats-officedocument.presentationml.tags+xml"/>
  <Override PartName="/ppt/notesSlides/notesSlide12.xml" ContentType="application/vnd.openxmlformats-officedocument.presentationml.notesSlide+xml"/>
  <Override PartName="/ppt/tags/tag11.xml" ContentType="application/vnd.openxmlformats-officedocument.presentationml.tags+xml"/>
  <Override PartName="/ppt/notesSlides/notesSlide13.xml" ContentType="application/vnd.openxmlformats-officedocument.presentationml.notesSlide+xml"/>
  <Override PartName="/ppt/tags/tag12.xml" ContentType="application/vnd.openxmlformats-officedocument.presentationml.tags+xml"/>
  <Override PartName="/ppt/notesSlides/notesSlide14.xml" ContentType="application/vnd.openxmlformats-officedocument.presentationml.notesSlide+xml"/>
  <Override PartName="/ppt/tags/tag13.xml" ContentType="application/vnd.openxmlformats-officedocument.presentationml.tags+xml"/>
  <Override PartName="/ppt/notesSlides/notesSlide15.xml" ContentType="application/vnd.openxmlformats-officedocument.presentationml.notesSlide+xml"/>
  <Override PartName="/ppt/tags/tag14.xml" ContentType="application/vnd.openxmlformats-officedocument.presentationml.tags+xml"/>
  <Override PartName="/ppt/notesSlides/notesSlide16.xml" ContentType="application/vnd.openxmlformats-officedocument.presentationml.notesSlide+xml"/>
  <Override PartName="/ppt/tags/tag15.xml" ContentType="application/vnd.openxmlformats-officedocument.presentationml.tags+xml"/>
  <Override PartName="/ppt/notesSlides/notesSlide17.xml" ContentType="application/vnd.openxmlformats-officedocument.presentationml.notesSlide+xml"/>
  <Override PartName="/ppt/tags/tag16.xml" ContentType="application/vnd.openxmlformats-officedocument.presentationml.tags+xml"/>
  <Override PartName="/ppt/notesSlides/notesSlide18.xml" ContentType="application/vnd.openxmlformats-officedocument.presentationml.notesSlide+xml"/>
  <Override PartName="/ppt/tags/tag17.xml" ContentType="application/vnd.openxmlformats-officedocument.presentationml.tags+xml"/>
  <Override PartName="/ppt/notesSlides/notesSlide19.xml" ContentType="application/vnd.openxmlformats-officedocument.presentationml.notesSlide+xml"/>
  <Override PartName="/ppt/tags/tag18.xml" ContentType="application/vnd.openxmlformats-officedocument.presentationml.tags+xml"/>
  <Override PartName="/ppt/notesSlides/notesSlide20.xml" ContentType="application/vnd.openxmlformats-officedocument.presentationml.notesSlide+xml"/>
  <Override PartName="/ppt/tags/tag19.xml" ContentType="application/vnd.openxmlformats-officedocument.presentationml.tags+xml"/>
  <Override PartName="/ppt/notesSlides/notesSlide21.xml" ContentType="application/vnd.openxmlformats-officedocument.presentationml.notesSlide+xml"/>
  <Override PartName="/ppt/tags/tag20.xml" ContentType="application/vnd.openxmlformats-officedocument.presentationml.tags+xml"/>
  <Override PartName="/ppt/notesSlides/notesSlide22.xml" ContentType="application/vnd.openxmlformats-officedocument.presentationml.notesSlide+xml"/>
  <Override PartName="/ppt/tags/tag21.xml" ContentType="application/vnd.openxmlformats-officedocument.presentationml.tags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tags/tag22.xml" ContentType="application/vnd.openxmlformats-officedocument.presentationml.tags+xml"/>
  <Override PartName="/ppt/notesSlides/notesSlide25.xml" ContentType="application/vnd.openxmlformats-officedocument.presentationml.notesSlide+xml"/>
  <Override PartName="/ppt/tags/tag23.xml" ContentType="application/vnd.openxmlformats-officedocument.presentationml.tags+xml"/>
  <Override PartName="/ppt/notesSlides/notesSlide26.xml" ContentType="application/vnd.openxmlformats-officedocument.presentationml.notesSlide+xml"/>
  <Override PartName="/ppt/tags/tag24.xml" ContentType="application/vnd.openxmlformats-officedocument.presentationml.tags+xml"/>
  <Override PartName="/ppt/notesSlides/notesSlide27.xml" ContentType="application/vnd.openxmlformats-officedocument.presentationml.notesSlide+xml"/>
  <Override PartName="/ppt/tags/tag25.xml" ContentType="application/vnd.openxmlformats-officedocument.presentationml.tags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91" r:id="rId6"/>
    <p:sldId id="261" r:id="rId7"/>
    <p:sldId id="262" r:id="rId8"/>
    <p:sldId id="263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80" r:id="rId21"/>
    <p:sldId id="281" r:id="rId22"/>
    <p:sldId id="282" r:id="rId23"/>
    <p:sldId id="283" r:id="rId24"/>
    <p:sldId id="284" r:id="rId25"/>
    <p:sldId id="286" r:id="rId26"/>
    <p:sldId id="287" r:id="rId27"/>
    <p:sldId id="288" r:id="rId28"/>
    <p:sldId id="289" r:id="rId29"/>
    <p:sldId id="290" r:id="rId30"/>
  </p:sldIdLst>
  <p:sldSz cx="9144000" cy="6858000" type="screen4x3"/>
  <p:notesSz cx="6858000" cy="9144000"/>
  <p:embeddedFontLst>
    <p:embeddedFont>
      <p:font typeface="Cambria" panose="02040503050406030204" pitchFamily="18" charset="0"/>
      <p:regular r:id="rId32"/>
      <p:bold r:id="rId33"/>
      <p:italic r:id="rId34"/>
      <p:boldItalic r:id="rId35"/>
    </p:embeddedFont>
    <p:embeddedFont>
      <p:font typeface="Nunito" pitchFamily="2" charset="77"/>
      <p:regular r:id="rId36"/>
      <p:bold r:id="rId37"/>
      <p:italic r:id="rId38"/>
      <p:boldItalic r:id="rId39"/>
    </p:embeddedFont>
    <p:embeddedFont>
      <p:font typeface="Nunito Light" panose="020F0302020204030204" pitchFamily="34" charset="0"/>
      <p:regular r:id="rId40"/>
      <p:bold r:id="rId41"/>
      <p:italic r:id="rId42"/>
      <p:boldItalic r:id="rId4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0" roundtripDataSignature="AMtx7mjIYPaanhw0nKZNgzNj1J2/pRCV5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D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BA219C8-81FF-40D2-9AAD-F39E110716C0}">
  <a:tblStyle styleId="{0BA219C8-81FF-40D2-9AAD-F39E110716C0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392"/>
    <p:restoredTop sz="91667"/>
  </p:normalViewPr>
  <p:slideViewPr>
    <p:cSldViewPr snapToGrid="0">
      <p:cViewPr varScale="1">
        <p:scale>
          <a:sx n="118" d="100"/>
          <a:sy n="118" d="100"/>
        </p:scale>
        <p:origin x="296" y="2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8.fntdata"/><Relationship Id="rId21" Type="http://schemas.openxmlformats.org/officeDocument/2006/relationships/slide" Target="slides/slide20.xml"/><Relationship Id="rId34" Type="http://schemas.openxmlformats.org/officeDocument/2006/relationships/font" Target="fonts/font3.fntdata"/><Relationship Id="rId42" Type="http://schemas.openxmlformats.org/officeDocument/2006/relationships/font" Target="fonts/font11.fntdata"/><Relationship Id="rId50" Type="http://customschemas.google.com/relationships/presentationmetadata" Target="meta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1.fntdata"/><Relationship Id="rId37" Type="http://schemas.openxmlformats.org/officeDocument/2006/relationships/font" Target="fonts/font6.fntdata"/><Relationship Id="rId40" Type="http://schemas.openxmlformats.org/officeDocument/2006/relationships/font" Target="fonts/font9.fntdata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4.fntdata"/><Relationship Id="rId43" Type="http://schemas.openxmlformats.org/officeDocument/2006/relationships/font" Target="fonts/font12.fntdata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2.fntdata"/><Relationship Id="rId38" Type="http://schemas.openxmlformats.org/officeDocument/2006/relationships/font" Target="fonts/font7.fntdata"/><Relationship Id="rId20" Type="http://schemas.openxmlformats.org/officeDocument/2006/relationships/slide" Target="slides/slide19.xml"/><Relationship Id="rId41" Type="http://schemas.openxmlformats.org/officeDocument/2006/relationships/font" Target="fonts/font10.fntdata"/><Relationship Id="rId5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362047e4178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" name="Google Shape;50;g362047e4178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62a475d70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" name="Google Shape;61;g362a475d70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66c45a6477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0" name="Google Shape;90;g366c45a6477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lvl="0" indent="0" algn="l" rtl="0"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  <a:buSzPts val="1100"/>
              <a:buNone/>
            </a:pPr>
            <a:r>
              <a:rPr lang="en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Main idea: explanations are </a:t>
            </a:r>
            <a:r>
              <a:rPr lang="en" b="1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diverse</a:t>
            </a:r>
            <a:endParaRPr b="1"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9" name="Google Shape;9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lvl="0" indent="0" algn="l" rtl="0"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  <a:buSzPts val="1100"/>
              <a:buNone/>
            </a:pPr>
            <a:r>
              <a:rPr lang="en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Main idea: explanations are </a:t>
            </a:r>
            <a:r>
              <a:rPr lang="en" b="1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diverse</a:t>
            </a:r>
            <a:endParaRPr b="1"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7BD27074-5D9E-D5D8-EC3A-86491665AF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>
            <a:extLst>
              <a:ext uri="{FF2B5EF4-FFF2-40B4-BE49-F238E27FC236}">
                <a16:creationId xmlns:a16="http://schemas.microsoft.com/office/drawing/2014/main" id="{0D3B3418-845F-EC8A-FC3C-8B84EFA8F4C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9" name="Google Shape;99;p3:notes">
            <a:extLst>
              <a:ext uri="{FF2B5EF4-FFF2-40B4-BE49-F238E27FC236}">
                <a16:creationId xmlns:a16="http://schemas.microsoft.com/office/drawing/2014/main" id="{C066DCFF-F04A-1B93-0E48-FDE62F1D847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lvl="0" indent="0" algn="l" rtl="0"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  <a:buSzPts val="1100"/>
              <a:buNone/>
            </a:pPr>
            <a:r>
              <a:rPr lang="en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Main idea: explanations are </a:t>
            </a:r>
            <a:r>
              <a:rPr lang="en" b="1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diverse</a:t>
            </a:r>
            <a:endParaRPr b="1">
              <a:latin typeface="Cambria"/>
              <a:ea typeface="Cambria"/>
              <a:cs typeface="Cambria"/>
              <a:sym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22445514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7" name="Google Shape;11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lvl="0" indent="0" algn="l" rtl="0"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66c45a6477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g366c45a6477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lvl="0" indent="0" algn="l" rtl="0"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62a475d704_0_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" name="Google Shape;148;g362a475d704_0_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4" name="Google Shape;184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lvl="0" indent="0" algn="l" rtl="0"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5" name="Google Shape;195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lvl="0" indent="0" algn="l" rtl="0"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468426b1ed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5" name="Google Shape;215;g3468426b1ed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lvl="0" indent="0" algn="l" rtl="0"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1" name="Google Shape;231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lvl="0" indent="0" algn="l" rtl="0"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7" name="Google Shape;247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lvl="0" indent="0" algn="l" rtl="0"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9" name="Google Shape;269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lvl="0" indent="0" algn="l" rtl="0"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66c45a6477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3" name="Google Shape;293;g366c45a6477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lvl="0" indent="0" algn="l" rtl="0"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7" name="Google Shape;317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lvl="0" indent="0" algn="l" rtl="0"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366c45a6477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3" name="Google Shape;343;g366c45a6477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lvl="0" indent="0" algn="l" rtl="0"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362a475d704_0_1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9" name="Google Shape;369;g362a475d704_0_1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8" name="Google Shape;378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lvl="0" indent="0" algn="l" rtl="0"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362a475d704_0_1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3" name="Google Shape;413;g362a475d704_0_1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lvl="0" indent="0" algn="l" rtl="0"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g362a475d704_0_1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0" name="Google Shape;440;g362a475d704_0_1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lvl="0" indent="0" algn="l" rtl="0"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362a475d704_0_1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8" name="Google Shape;468;g362a475d704_0_1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lvl="0" indent="0" algn="l" rtl="0"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5" name="Google Shape;505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  <a:buSzPts val="1100"/>
              <a:buNone/>
            </a:pPr>
            <a:endParaRPr sz="1150">
              <a:solidFill>
                <a:srgbClr val="1D1C1D"/>
              </a:solidFill>
              <a:highlight>
                <a:srgbClr val="F8F8F8"/>
              </a:highlight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6" name="Google Shape;516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  <a:buSzPts val="1100"/>
              <a:buNone/>
            </a:pPr>
            <a:endParaRPr sz="1150">
              <a:solidFill>
                <a:srgbClr val="1D1C1D"/>
              </a:solidFill>
              <a:highlight>
                <a:srgbClr val="F8F8F8"/>
              </a:highlight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g362a475d704_0_2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38" name="Google Shape;538;g362a475d704_0_2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lvl="0" indent="0" algn="l" rtl="0"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76" name="Google Shape;576;p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300"/>
              <a:t>The most obvious observation from this figure is the high frequency of CONCISENESS as the reason why an explanation generated by either of the LLMs is judged to be bad.</a:t>
            </a:r>
            <a:endParaRPr sz="130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30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/>
              <a:t>This contrasts with the low frequency of WORD CHOICE, COHESION, APPROPRIATENESS and GRAMMATICALITY.</a:t>
            </a:r>
            <a:endParaRPr sz="130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30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/>
              <a:t>On the other hand, </a:t>
            </a:r>
            <a:r>
              <a:rPr lang="en" sz="1300">
                <a:solidFill>
                  <a:schemeClr val="dk1"/>
                </a:solidFill>
              </a:rPr>
              <a:t>CONCISENESS</a:t>
            </a:r>
            <a:r>
              <a:rPr lang="en" sz="1300"/>
              <a:t> less of a problem to humans, whose explanations are mostly judged as bad due to poor COHERENCE.</a:t>
            </a:r>
            <a:endParaRPr sz="130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/>
              <a:t>In the particular case of experts, it is interesting to see their explanations are less grammatical than then contractors.</a:t>
            </a:r>
            <a:endParaRPr sz="1300"/>
          </a:p>
          <a:p>
            <a:pPr marL="152400" lvl="0" indent="0" algn="l" rtl="0"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  <a:buSzPts val="1100"/>
              <a:buNone/>
            </a:pPr>
            <a:endParaRPr sz="130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g3474599f942_0_1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86" name="Google Shape;586;g3474599f942_0_1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lvl="0" indent="0" algn="l" rtl="0"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4" name="Google Shape;594;p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  <a:buSzPts val="1100"/>
              <a:buNone/>
            </a:pPr>
            <a:endParaRPr sz="1150">
              <a:solidFill>
                <a:srgbClr val="1D1C1D"/>
              </a:solidFill>
              <a:highlight>
                <a:srgbClr val="F8F8F8"/>
              </a:highlight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4" name="Google Shape;604;p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9"/>
          <p:cNvSpPr txBox="1">
            <a:spLocks noGrp="1"/>
          </p:cNvSpPr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49"/>
          <p:cNvSpPr txBox="1">
            <a:spLocks noGrp="1"/>
          </p:cNvSpPr>
          <p:nvPr>
            <p:ph type="subTitle" idx="1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49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50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50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" name="Google Shape;16;p50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1"/>
          <p:cNvSpPr txBox="1">
            <a:spLocks noGrp="1"/>
          </p:cNvSpPr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" name="Google Shape;19;p5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2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2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2"/>
          <p:cNvSpPr txBox="1">
            <a:spLocks noGrp="1"/>
          </p:cNvSpPr>
          <p:nvPr>
            <p:ph type="body" idx="2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3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53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4"/>
          <p:cNvSpPr txBox="1">
            <a:spLocks noGrp="1"/>
          </p:cNvSpPr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54"/>
          <p:cNvSpPr txBox="1">
            <a:spLocks noGrp="1"/>
          </p:cNvSpPr>
          <p:nvPr>
            <p:ph type="body" idx="1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54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5"/>
          <p:cNvSpPr txBox="1">
            <a:spLocks noGrp="1"/>
          </p:cNvSpPr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55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56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56"/>
          <p:cNvSpPr txBox="1">
            <a:spLocks noGrp="1"/>
          </p:cNvSpPr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56"/>
          <p:cNvSpPr txBox="1">
            <a:spLocks noGrp="1"/>
          </p:cNvSpPr>
          <p:nvPr>
            <p:ph type="subTitle" idx="1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56"/>
          <p:cNvSpPr txBox="1">
            <a:spLocks noGrp="1"/>
          </p:cNvSpPr>
          <p:nvPr>
            <p:ph type="body" idx="2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56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57"/>
          <p:cNvSpPr txBox="1">
            <a:spLocks noGrp="1"/>
          </p:cNvSpPr>
          <p:nvPr>
            <p:ph type="body" idx="1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57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58"/>
          <p:cNvSpPr txBox="1">
            <a:spLocks noGrp="1"/>
          </p:cNvSpPr>
          <p:nvPr>
            <p:ph type="title" hasCustomPrompt="1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58"/>
          <p:cNvSpPr txBox="1">
            <a:spLocks noGrp="1"/>
          </p:cNvSpPr>
          <p:nvPr>
            <p:ph type="body" idx="1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58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8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48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48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notesSlide" Target="../notesSlides/notesSlide20.xml"/><Relationship Id="rId7" Type="http://schemas.openxmlformats.org/officeDocument/2006/relationships/image" Target="../media/image24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notesSlide" Target="../notesSlides/notesSlide21.xml"/><Relationship Id="rId7" Type="http://schemas.openxmlformats.org/officeDocument/2006/relationships/image" Target="../media/image24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notesSlide" Target="../notesSlides/notesSlide22.xml"/><Relationship Id="rId7" Type="http://schemas.openxmlformats.org/officeDocument/2006/relationships/image" Target="../media/image2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10" Type="http://schemas.openxmlformats.org/officeDocument/2006/relationships/image" Target="../media/image27.png"/><Relationship Id="rId4" Type="http://schemas.openxmlformats.org/officeDocument/2006/relationships/image" Target="../media/image25.png"/><Relationship Id="rId9" Type="http://schemas.openxmlformats.org/officeDocument/2006/relationships/image" Target="../media/image2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1.xml"/><Relationship Id="rId4" Type="http://schemas.openxmlformats.org/officeDocument/2006/relationships/image" Target="../media/image2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notesSlide" Target="../notesSlides/notesSlide25.xml"/><Relationship Id="rId7" Type="http://schemas.openxmlformats.org/officeDocument/2006/relationships/image" Target="../media/image2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10" Type="http://schemas.openxmlformats.org/officeDocument/2006/relationships/image" Target="../media/image27.png"/><Relationship Id="rId4" Type="http://schemas.openxmlformats.org/officeDocument/2006/relationships/image" Target="../media/image25.png"/><Relationship Id="rId9" Type="http://schemas.openxmlformats.org/officeDocument/2006/relationships/image" Target="../media/image2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3.xml"/><Relationship Id="rId4" Type="http://schemas.openxmlformats.org/officeDocument/2006/relationships/image" Target="../media/image29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5.xml"/><Relationship Id="rId4" Type="http://schemas.openxmlformats.org/officeDocument/2006/relationships/image" Target="../media/image1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62047e4178_0_14"/>
          <p:cNvSpPr txBox="1">
            <a:spLocks noGrp="1"/>
          </p:cNvSpPr>
          <p:nvPr>
            <p:ph type="ctrTitle"/>
          </p:nvPr>
        </p:nvSpPr>
        <p:spPr>
          <a:xfrm>
            <a:off x="311700" y="1371372"/>
            <a:ext cx="8520600" cy="341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37"/>
              <a:buFont typeface="Arial"/>
              <a:buNone/>
            </a:pPr>
            <a:r>
              <a:rPr lang="en" sz="3500" b="1">
                <a:latin typeface="Cambria"/>
                <a:ea typeface="Cambria"/>
                <a:cs typeface="Cambria"/>
                <a:sym typeface="Cambria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0"/>
                  </a:ext>
                </a:extLst>
              </a:rPr>
              <a:t>Rubrik’s Cube:</a:t>
            </a:r>
            <a:endParaRPr sz="3500" b="1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6"/>
              <a:buFont typeface="Arial"/>
              <a:buNone/>
            </a:pPr>
            <a:r>
              <a:rPr lang="en" sz="2600" b="1">
                <a:latin typeface="Cambria"/>
                <a:ea typeface="Cambria"/>
                <a:cs typeface="Cambria"/>
                <a:sym typeface="Cambria"/>
              </a:rPr>
              <a:t>Testing a New Rubric for Evaluating Explanations on the CUBE dataset</a:t>
            </a:r>
            <a:endParaRPr sz="2600" b="1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91"/>
              <a:buNone/>
            </a:pPr>
            <a:endParaRPr sz="4180" b="1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3" name="Google Shape;53;g362047e4178_0_14"/>
          <p:cNvSpPr txBox="1">
            <a:spLocks noGrp="1"/>
          </p:cNvSpPr>
          <p:nvPr>
            <p:ph type="subTitle" idx="1"/>
          </p:nvPr>
        </p:nvSpPr>
        <p:spPr>
          <a:xfrm>
            <a:off x="311696" y="3958589"/>
            <a:ext cx="8520600" cy="9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u="sng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Diana Galvan-Sosa</a:t>
            </a:r>
            <a:r>
              <a:rPr lang="en" sz="1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, </a:t>
            </a:r>
            <a:r>
              <a:rPr lang="en" sz="1400" u="sng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Gabrielle Gaudeau</a:t>
            </a:r>
            <a:r>
              <a:rPr lang="en" sz="1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, Pride Kavumba, </a:t>
            </a:r>
            <a:br>
              <a:rPr lang="en" sz="1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</a:br>
            <a:r>
              <a:rPr lang="en" sz="1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Yunmeng Li, Hongyi Gu, Zheng Yuan, Keisuke Sakaguchi, Paula Buttery</a:t>
            </a:r>
            <a:endParaRPr sz="1400" baseline="300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 baseline="300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1200">
              <a:solidFill>
                <a:srgbClr val="9E9E9E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4" name="Google Shape;54;g362047e4178_0_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356686" y="1928110"/>
            <a:ext cx="430620" cy="523379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g362047e4178_0_14"/>
          <p:cNvSpPr/>
          <p:nvPr/>
        </p:nvSpPr>
        <p:spPr>
          <a:xfrm rot="5400000">
            <a:off x="-111075" y="111300"/>
            <a:ext cx="2120100" cy="1897500"/>
          </a:xfrm>
          <a:prstGeom prst="rtTriangle">
            <a:avLst/>
          </a:prstGeom>
          <a:solidFill>
            <a:srgbClr val="0000D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g362047e4178_0_14"/>
          <p:cNvSpPr/>
          <p:nvPr/>
        </p:nvSpPr>
        <p:spPr>
          <a:xfrm>
            <a:off x="-2" y="4619999"/>
            <a:ext cx="1897800" cy="2242200"/>
          </a:xfrm>
          <a:prstGeom prst="rtTriangle">
            <a:avLst/>
          </a:prstGeom>
          <a:solidFill>
            <a:srgbClr val="F1160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g362047e4178_0_14"/>
          <p:cNvSpPr/>
          <p:nvPr/>
        </p:nvSpPr>
        <p:spPr>
          <a:xfrm rot="-5400000" flipH="1">
            <a:off x="7135200" y="111300"/>
            <a:ext cx="2120100" cy="1897500"/>
          </a:xfrm>
          <a:prstGeom prst="rtTriangle">
            <a:avLst/>
          </a:prstGeom>
          <a:solidFill>
            <a:srgbClr val="FCDF0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8" name="Google Shape;58;g362047e4178_0_14" title="acl2025_id-wide_yellow-ochre_1920x655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147475" y="5426775"/>
            <a:ext cx="3865325" cy="1318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62a475d704_0_0"/>
          <p:cNvSpPr/>
          <p:nvPr/>
        </p:nvSpPr>
        <p:spPr>
          <a:xfrm rot="-5400000" flipH="1">
            <a:off x="7135200" y="111300"/>
            <a:ext cx="2120100" cy="1897500"/>
          </a:xfrm>
          <a:prstGeom prst="rtTriangle">
            <a:avLst/>
          </a:prstGeom>
          <a:solidFill>
            <a:srgbClr val="FCDF0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g362a475d704_0_0"/>
          <p:cNvSpPr txBox="1">
            <a:spLocks noGrp="1"/>
          </p:cNvSpPr>
          <p:nvPr>
            <p:ph type="subTitle" idx="1"/>
          </p:nvPr>
        </p:nvSpPr>
        <p:spPr>
          <a:xfrm>
            <a:off x="280825" y="4311450"/>
            <a:ext cx="4252500" cy="4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Hongyi Gu</a:t>
            </a:r>
            <a:endParaRPr sz="1400" baseline="300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1200">
              <a:solidFill>
                <a:srgbClr val="9E9E9E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5" name="Google Shape;65;g362a475d704_0_0"/>
          <p:cNvSpPr/>
          <p:nvPr/>
        </p:nvSpPr>
        <p:spPr>
          <a:xfrm rot="5400000">
            <a:off x="-111075" y="111300"/>
            <a:ext cx="2120100" cy="1897500"/>
          </a:xfrm>
          <a:prstGeom prst="rtTriangle">
            <a:avLst/>
          </a:prstGeom>
          <a:solidFill>
            <a:srgbClr val="0000D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g362a475d704_0_0"/>
          <p:cNvSpPr/>
          <p:nvPr/>
        </p:nvSpPr>
        <p:spPr>
          <a:xfrm>
            <a:off x="-2" y="4619999"/>
            <a:ext cx="1897800" cy="2242200"/>
          </a:xfrm>
          <a:prstGeom prst="rtTriangle">
            <a:avLst/>
          </a:prstGeom>
          <a:solidFill>
            <a:srgbClr val="F1160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7" name="Google Shape;67;g362a475d704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01725" y="2609050"/>
            <a:ext cx="1764600" cy="17622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68" name="Google Shape;68;g362a475d704_0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775" y="844600"/>
            <a:ext cx="1764600" cy="17646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69" name="Google Shape;69;g362a475d704_0_0" title="Screenshot 2025-06-28 at 10.10.00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89700" y="844600"/>
            <a:ext cx="1764600" cy="17646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70" name="Google Shape;70;g362a475d704_0_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854625" y="844600"/>
            <a:ext cx="1764600" cy="17646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71" name="Google Shape;71;g362a475d704_0_0"/>
          <p:cNvPicPr preferRelativeResize="0"/>
          <p:nvPr/>
        </p:nvPicPr>
        <p:blipFill rotWithShape="1">
          <a:blip r:embed="rId7">
            <a:alphaModFix/>
          </a:blip>
          <a:srcRect l="9617" t="31804" r="12446" b="24387"/>
          <a:stretch/>
        </p:blipFill>
        <p:spPr>
          <a:xfrm>
            <a:off x="435325" y="2609200"/>
            <a:ext cx="1764600" cy="17619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72" name="Google Shape;72;g362a475d704_0_0"/>
          <p:cNvPicPr preferRelativeResize="0"/>
          <p:nvPr/>
        </p:nvPicPr>
        <p:blipFill rotWithShape="1">
          <a:blip r:embed="rId8">
            <a:alphaModFix/>
          </a:blip>
          <a:srcRect r="1068"/>
          <a:stretch/>
        </p:blipFill>
        <p:spPr>
          <a:xfrm>
            <a:off x="6934825" y="2607700"/>
            <a:ext cx="1764900" cy="17649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73" name="Google Shape;73;g362a475d704_0_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768113" y="2607700"/>
            <a:ext cx="1764900" cy="17649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74" name="Google Shape;74;g362a475d704_0_0"/>
          <p:cNvSpPr txBox="1">
            <a:spLocks noGrp="1"/>
          </p:cNvSpPr>
          <p:nvPr>
            <p:ph type="subTitle" idx="1"/>
          </p:nvPr>
        </p:nvSpPr>
        <p:spPr>
          <a:xfrm>
            <a:off x="1430425" y="509500"/>
            <a:ext cx="1953300" cy="3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Diana Galvan-Sosa</a:t>
            </a:r>
            <a:endParaRPr sz="1400" baseline="300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1200">
              <a:solidFill>
                <a:srgbClr val="9E9E9E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5" name="Google Shape;75;g362a475d704_0_0"/>
          <p:cNvSpPr txBox="1">
            <a:spLocks noGrp="1"/>
          </p:cNvSpPr>
          <p:nvPr>
            <p:ph type="subTitle" idx="1"/>
          </p:nvPr>
        </p:nvSpPr>
        <p:spPr>
          <a:xfrm>
            <a:off x="3595350" y="509500"/>
            <a:ext cx="1953300" cy="3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Gabrielle Gaudeau</a:t>
            </a:r>
            <a:endParaRPr sz="1400" baseline="300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1200">
              <a:solidFill>
                <a:srgbClr val="9E9E9E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6" name="Google Shape;76;g362a475d704_0_0"/>
          <p:cNvSpPr txBox="1">
            <a:spLocks noGrp="1"/>
          </p:cNvSpPr>
          <p:nvPr>
            <p:ph type="subTitle" idx="1"/>
          </p:nvPr>
        </p:nvSpPr>
        <p:spPr>
          <a:xfrm>
            <a:off x="5760275" y="509500"/>
            <a:ext cx="1953300" cy="3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Pride Kavumba</a:t>
            </a:r>
            <a:endParaRPr sz="1400" baseline="300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1200">
              <a:solidFill>
                <a:srgbClr val="9E9E9E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7" name="Google Shape;77;g362a475d704_0_0"/>
          <p:cNvSpPr txBox="1">
            <a:spLocks noGrp="1"/>
          </p:cNvSpPr>
          <p:nvPr>
            <p:ph type="subTitle" idx="1"/>
          </p:nvPr>
        </p:nvSpPr>
        <p:spPr>
          <a:xfrm>
            <a:off x="340975" y="4311450"/>
            <a:ext cx="1953300" cy="3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Yunmeng Li</a:t>
            </a:r>
            <a:endParaRPr sz="1400" baseline="300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1200">
              <a:solidFill>
                <a:srgbClr val="9E9E9E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8" name="Google Shape;78;g362a475d704_0_0"/>
          <p:cNvSpPr txBox="1">
            <a:spLocks noGrp="1"/>
          </p:cNvSpPr>
          <p:nvPr>
            <p:ph type="subTitle" idx="1"/>
          </p:nvPr>
        </p:nvSpPr>
        <p:spPr>
          <a:xfrm>
            <a:off x="2507375" y="4311450"/>
            <a:ext cx="1953300" cy="3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Zheng Yuan</a:t>
            </a:r>
            <a:endParaRPr sz="1400" baseline="300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1200">
              <a:solidFill>
                <a:srgbClr val="9E9E9E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9" name="Google Shape;79;g362a475d704_0_0"/>
          <p:cNvSpPr txBox="1">
            <a:spLocks noGrp="1"/>
          </p:cNvSpPr>
          <p:nvPr>
            <p:ph type="subTitle" idx="1"/>
          </p:nvPr>
        </p:nvSpPr>
        <p:spPr>
          <a:xfrm>
            <a:off x="4673925" y="4311450"/>
            <a:ext cx="1953300" cy="3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Keisuke Sakaguchi</a:t>
            </a:r>
            <a:endParaRPr sz="1400" baseline="300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1200">
              <a:solidFill>
                <a:srgbClr val="9E9E9E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0" name="Google Shape;80;g362a475d704_0_0"/>
          <p:cNvSpPr txBox="1">
            <a:spLocks noGrp="1"/>
          </p:cNvSpPr>
          <p:nvPr>
            <p:ph type="subTitle" idx="1"/>
          </p:nvPr>
        </p:nvSpPr>
        <p:spPr>
          <a:xfrm>
            <a:off x="6840475" y="4311450"/>
            <a:ext cx="1953300" cy="3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Paula Buttery</a:t>
            </a:r>
            <a:endParaRPr sz="1400" baseline="300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1200">
              <a:solidFill>
                <a:srgbClr val="9E9E9E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81" name="Google Shape;81;g362a475d704_0_0"/>
          <p:cNvGrpSpPr/>
          <p:nvPr/>
        </p:nvGrpSpPr>
        <p:grpSpPr>
          <a:xfrm>
            <a:off x="2723647" y="5332639"/>
            <a:ext cx="6070128" cy="1181661"/>
            <a:chOff x="1647997" y="711614"/>
            <a:chExt cx="6070128" cy="1181661"/>
          </a:xfrm>
        </p:grpSpPr>
        <p:pic>
          <p:nvPicPr>
            <p:cNvPr id="82" name="Google Shape;82;g362a475d704_0_0"/>
            <p:cNvPicPr preferRelativeResize="0"/>
            <p:nvPr/>
          </p:nvPicPr>
          <p:blipFill rotWithShape="1">
            <a:blip r:embed="rId10">
              <a:alphaModFix amt="83000"/>
            </a:blip>
            <a:srcRect l="25386" r="28373"/>
            <a:stretch/>
          </p:blipFill>
          <p:spPr>
            <a:xfrm>
              <a:off x="3816372" y="766344"/>
              <a:ext cx="835317" cy="100359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3" name="Google Shape;83;g362a475d704_0_0"/>
            <p:cNvPicPr preferRelativeResize="0"/>
            <p:nvPr/>
          </p:nvPicPr>
          <p:blipFill rotWithShape="1">
            <a:blip r:embed="rId11">
              <a:alphaModFix amt="83000"/>
            </a:blip>
            <a:srcRect/>
            <a:stretch/>
          </p:blipFill>
          <p:spPr>
            <a:xfrm>
              <a:off x="1647997" y="876191"/>
              <a:ext cx="1036915" cy="92026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4" name="Google Shape;84;g362a475d704_0_0"/>
            <p:cNvPicPr preferRelativeResize="0"/>
            <p:nvPr/>
          </p:nvPicPr>
          <p:blipFill rotWithShape="1">
            <a:blip r:embed="rId12">
              <a:alphaModFix amt="83000"/>
            </a:blip>
            <a:srcRect/>
            <a:stretch/>
          </p:blipFill>
          <p:spPr>
            <a:xfrm>
              <a:off x="4766026" y="711614"/>
              <a:ext cx="655449" cy="111306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5" name="Google Shape;85;g362a475d704_0_0"/>
            <p:cNvPicPr preferRelativeResize="0"/>
            <p:nvPr/>
          </p:nvPicPr>
          <p:blipFill rotWithShape="1">
            <a:blip r:embed="rId13">
              <a:alphaModFix amt="83000"/>
            </a:blip>
            <a:srcRect/>
            <a:stretch/>
          </p:blipFill>
          <p:spPr>
            <a:xfrm>
              <a:off x="5535800" y="779375"/>
              <a:ext cx="1113900" cy="1113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6" name="Google Shape;86;g362a475d704_0_0"/>
            <p:cNvPicPr preferRelativeResize="0"/>
            <p:nvPr/>
          </p:nvPicPr>
          <p:blipFill rotWithShape="1">
            <a:blip r:embed="rId14">
              <a:alphaModFix amt="83000"/>
            </a:blip>
            <a:srcRect/>
            <a:stretch/>
          </p:blipFill>
          <p:spPr>
            <a:xfrm>
              <a:off x="6764016" y="873576"/>
              <a:ext cx="954109" cy="925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7" name="Google Shape;87;g362a475d704_0_0"/>
            <p:cNvPicPr preferRelativeResize="0"/>
            <p:nvPr/>
          </p:nvPicPr>
          <p:blipFill rotWithShape="1">
            <a:blip r:embed="rId15">
              <a:alphaModFix amt="83000"/>
            </a:blip>
            <a:srcRect l="4943" r="3515"/>
            <a:stretch/>
          </p:blipFill>
          <p:spPr>
            <a:xfrm>
              <a:off x="2761863" y="1069041"/>
              <a:ext cx="1036900" cy="634321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66c45a6477_0_1"/>
          <p:cNvSpPr txBox="1"/>
          <p:nvPr/>
        </p:nvSpPr>
        <p:spPr>
          <a:xfrm>
            <a:off x="434550" y="30431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" sz="3000" b="1" i="0" u="none" strike="noStrike" cap="none" dirty="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Introduction </a:t>
            </a:r>
            <a:endParaRPr sz="2100" b="1" i="0" u="none" strike="noStrike" cap="none" dirty="0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93" name="Google Shape;93;g366c45a6477_0_1"/>
          <p:cNvSpPr txBox="1"/>
          <p:nvPr/>
        </p:nvSpPr>
        <p:spPr>
          <a:xfrm>
            <a:off x="365700" y="1192250"/>
            <a:ext cx="7982400" cy="48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000" b="1" i="0" u="none" strike="noStrike" cap="none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Large Language Models (LLMs)</a:t>
            </a:r>
            <a:r>
              <a:rPr lang="en" sz="2000" b="0" i="0" u="none" strike="noStrike" cap="none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are increasingly being used in tasks</a:t>
            </a:r>
            <a:r>
              <a:rPr lang="en" sz="2000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en" sz="2000" b="0" i="0" u="none" strike="noStrike" cap="none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which </a:t>
            </a:r>
            <a:r>
              <a:rPr lang="en" sz="2000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require</a:t>
            </a:r>
            <a:r>
              <a:rPr lang="en" sz="2000" b="0" i="0" u="none" strike="noStrike" cap="none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en" sz="2000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a</a:t>
            </a:r>
            <a:r>
              <a:rPr lang="en" sz="2000" b="0" i="0" u="none" strike="noStrike" cap="none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break down of their </a:t>
            </a:r>
            <a:r>
              <a:rPr lang="en" sz="2000" b="1" i="0" u="none" strike="noStrike" cap="none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decision</a:t>
            </a:r>
            <a:r>
              <a:rPr lang="en" sz="2000" b="1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-making process</a:t>
            </a:r>
            <a:r>
              <a:rPr lang="en" sz="2000" b="0" i="0" u="none" strike="noStrike" cap="none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br>
              <a:rPr lang="en" sz="2000" b="0" i="0" u="none" strike="noStrike" cap="none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</a:br>
            <a:r>
              <a:rPr lang="en" sz="1500" b="0" i="0" u="none" strike="noStrike" cap="none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(e.g., automated scoring, question generation, problem resolution; García-Méndez et al., 2024</a:t>
            </a:r>
            <a:r>
              <a:rPr lang="en" sz="1500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).</a:t>
            </a:r>
            <a:endParaRPr sz="1500" b="0" i="0" u="none" strike="noStrike" cap="none" dirty="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1500" b="0" i="0" u="none" strike="noStrike" cap="none" dirty="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" sz="2000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Though </a:t>
            </a:r>
            <a:r>
              <a:rPr lang="en" sz="2000" b="0" i="0" u="none" strike="noStrike" cap="none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easy to </a:t>
            </a:r>
            <a:r>
              <a:rPr lang="en" sz="2000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generate</a:t>
            </a:r>
            <a:r>
              <a:rPr lang="en" sz="2000" b="0" i="0" u="none" strike="noStrike" cap="none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, </a:t>
            </a:r>
            <a:r>
              <a:rPr lang="en" sz="2000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LLM explanations</a:t>
            </a:r>
            <a:r>
              <a:rPr lang="en" sz="2000" b="0" i="0" u="none" strike="noStrike" cap="none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fall short due </a:t>
            </a:r>
            <a:r>
              <a:rPr lang="en" sz="2000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for being</a:t>
            </a:r>
            <a:r>
              <a:rPr lang="en" sz="2000" b="0" i="0" u="none" strike="noStrike" cap="none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en" sz="2000" b="0" i="0" u="sng" strike="noStrike" cap="none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unreliab</a:t>
            </a:r>
            <a:r>
              <a:rPr lang="en" sz="2000" u="sng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le</a:t>
            </a:r>
            <a:r>
              <a:rPr lang="en" sz="2000" b="0" i="0" u="none" strike="noStrike" cap="none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en" sz="1500" b="0" i="0" u="none" strike="noStrike" cap="none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(Kim et al., 2024)</a:t>
            </a:r>
            <a:r>
              <a:rPr lang="en" sz="2000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, </a:t>
            </a:r>
            <a:r>
              <a:rPr lang="en" sz="2000" b="0" i="0" u="sng" strike="noStrike" cap="none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lacking transparen</a:t>
            </a:r>
            <a:r>
              <a:rPr lang="en" sz="2000" u="sng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cy</a:t>
            </a:r>
            <a:r>
              <a:rPr lang="en" sz="2000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en" sz="1500" b="0" i="0" u="none" strike="noStrike" cap="none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(Sallam 2023; Kabir et al., 2024</a:t>
            </a:r>
            <a:r>
              <a:rPr lang="en" sz="1500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).</a:t>
            </a:r>
            <a:endParaRPr sz="1500" b="0" i="0" u="none" strike="noStrike" cap="none" dirty="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94" name="Google Shape;94;g366c45a6477_0_1"/>
          <p:cNvSpPr/>
          <p:nvPr/>
        </p:nvSpPr>
        <p:spPr>
          <a:xfrm>
            <a:off x="8348100" y="6373475"/>
            <a:ext cx="484200" cy="372300"/>
          </a:xfrm>
          <a:prstGeom prst="roundRect">
            <a:avLst>
              <a:gd name="adj" fmla="val 16667"/>
            </a:avLst>
          </a:prstGeom>
          <a:solidFill>
            <a:srgbClr val="0000D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sz="1400" b="0" i="0" u="none" strike="noStrike" cap="non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95" name="Google Shape;95;g366c45a6477_0_1"/>
          <p:cNvSpPr/>
          <p:nvPr/>
        </p:nvSpPr>
        <p:spPr>
          <a:xfrm>
            <a:off x="240125" y="304325"/>
            <a:ext cx="147600" cy="614400"/>
          </a:xfrm>
          <a:prstGeom prst="roundRect">
            <a:avLst>
              <a:gd name="adj" fmla="val 16667"/>
            </a:avLst>
          </a:prstGeom>
          <a:solidFill>
            <a:srgbClr val="0000D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rgbClr val="FF00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g366c45a6477_0_1"/>
          <p:cNvSpPr txBox="1"/>
          <p:nvPr/>
        </p:nvSpPr>
        <p:spPr>
          <a:xfrm>
            <a:off x="1178850" y="4350475"/>
            <a:ext cx="6786300" cy="1046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000" b="1" i="0" u="none" strike="noStrike" cap="none" dirty="0">
                <a:solidFill>
                  <a:srgbClr val="0000DC"/>
                </a:solidFill>
                <a:latin typeface="Cambria"/>
                <a:ea typeface="Cambria"/>
                <a:cs typeface="Cambria"/>
                <a:sym typeface="Cambria"/>
              </a:rPr>
              <a:t>The challenge has shifted from generating </a:t>
            </a:r>
            <a:r>
              <a:rPr lang="en" sz="2000" b="1" dirty="0">
                <a:solidFill>
                  <a:srgbClr val="0000DC"/>
                </a:solidFill>
                <a:latin typeface="Cambria"/>
                <a:ea typeface="Cambria"/>
                <a:cs typeface="Cambria"/>
                <a:sym typeface="Cambria"/>
              </a:rPr>
              <a:t>explanations</a:t>
            </a:r>
            <a:r>
              <a:rPr lang="en" sz="2000" b="1" i="0" u="none" strike="noStrike" cap="none" dirty="0">
                <a:solidFill>
                  <a:srgbClr val="0000DC"/>
                </a:solidFill>
                <a:latin typeface="Cambria"/>
                <a:ea typeface="Cambria"/>
                <a:cs typeface="Cambria"/>
                <a:sym typeface="Cambria"/>
              </a:rPr>
              <a:t> to assessing </a:t>
            </a:r>
            <a:r>
              <a:rPr lang="en" sz="2000" b="1" dirty="0">
                <a:solidFill>
                  <a:srgbClr val="0000DC"/>
                </a:solidFill>
                <a:latin typeface="Cambria"/>
                <a:ea typeface="Cambria"/>
                <a:cs typeface="Cambria"/>
                <a:sym typeface="Cambria"/>
              </a:rPr>
              <a:t>the</a:t>
            </a:r>
            <a:r>
              <a:rPr lang="en" sz="2000" b="1" i="0" u="none" strike="noStrike" cap="none" dirty="0">
                <a:solidFill>
                  <a:srgbClr val="0000DC"/>
                </a:solidFill>
                <a:latin typeface="Cambria"/>
                <a:ea typeface="Cambria"/>
                <a:cs typeface="Cambria"/>
                <a:sym typeface="Cambria"/>
              </a:rPr>
              <a:t> quality of explanations.</a:t>
            </a:r>
            <a:endParaRPr sz="2000" b="1" i="0" u="none" strike="noStrike" cap="none" dirty="0">
              <a:solidFill>
                <a:srgbClr val="0000DC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/>
          <p:cNvSpPr txBox="1"/>
          <p:nvPr/>
        </p:nvSpPr>
        <p:spPr>
          <a:xfrm>
            <a:off x="434550" y="30431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" sz="3000" b="1" i="0" u="none" strike="noStrike" cap="non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Introduction </a:t>
            </a:r>
            <a:endParaRPr sz="2100" b="1" i="0" u="none" strike="noStrike" cap="non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02" name="Google Shape;102;p3"/>
          <p:cNvSpPr txBox="1"/>
          <p:nvPr/>
        </p:nvSpPr>
        <p:spPr>
          <a:xfrm>
            <a:off x="365700" y="1192250"/>
            <a:ext cx="8377500" cy="14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" sz="2000" b="1" i="0" u="none" strike="noStrike" cap="none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Explanations</a:t>
            </a:r>
            <a:r>
              <a:rPr lang="en" sz="2000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en" sz="2000" b="0" i="0" u="none" strike="noStrike" cap="none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are </a:t>
            </a:r>
            <a:r>
              <a:rPr lang="en" sz="2000" b="0" i="1" u="none" strike="noStrike" cap="none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diverse</a:t>
            </a:r>
            <a:r>
              <a:rPr lang="en" sz="2000" b="0" i="0" u="none" strike="noStrike" cap="none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; there is usually </a:t>
            </a:r>
            <a:r>
              <a:rPr lang="en" sz="2000" b="0" i="0" u="sng" strike="noStrike" cap="none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more than one way</a:t>
            </a:r>
            <a:r>
              <a:rPr lang="en" sz="2000" b="0" i="0" u="none" strike="noStrike" cap="none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of expressing the rationale behind a choice.</a:t>
            </a:r>
            <a:endParaRPr sz="1800" b="0" i="0" u="none" strike="noStrike" cap="none" dirty="0">
              <a:solidFill>
                <a:schemeClr val="dk1"/>
              </a:solidFill>
              <a:latin typeface="Nunito Light"/>
              <a:ea typeface="Nunito Light"/>
              <a:cs typeface="Nunito Light"/>
              <a:sym typeface="Nunito Light"/>
            </a:endParaRPr>
          </a:p>
        </p:txBody>
      </p:sp>
      <p:sp>
        <p:nvSpPr>
          <p:cNvPr id="103" name="Google Shape;103;p3"/>
          <p:cNvSpPr/>
          <p:nvPr/>
        </p:nvSpPr>
        <p:spPr>
          <a:xfrm>
            <a:off x="8348100" y="6373475"/>
            <a:ext cx="484200" cy="372300"/>
          </a:xfrm>
          <a:prstGeom prst="roundRect">
            <a:avLst>
              <a:gd name="adj" fmla="val 16667"/>
            </a:avLst>
          </a:prstGeom>
          <a:solidFill>
            <a:srgbClr val="0000D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sz="1400" b="0" i="0" u="none" strike="noStrike" cap="non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04" name="Google Shape;104;p3"/>
          <p:cNvSpPr/>
          <p:nvPr/>
        </p:nvSpPr>
        <p:spPr>
          <a:xfrm>
            <a:off x="240125" y="304325"/>
            <a:ext cx="147600" cy="614400"/>
          </a:xfrm>
          <a:prstGeom prst="roundRect">
            <a:avLst>
              <a:gd name="adj" fmla="val 16667"/>
            </a:avLst>
          </a:prstGeom>
          <a:solidFill>
            <a:srgbClr val="0000D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rgbClr val="FF0000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6FA6C4CF-E223-0F8C-26B6-82F6441448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>
            <a:extLst>
              <a:ext uri="{FF2B5EF4-FFF2-40B4-BE49-F238E27FC236}">
                <a16:creationId xmlns:a16="http://schemas.microsoft.com/office/drawing/2014/main" id="{BDAEF3C0-3CFC-6454-0EDD-F81A90245CE7}"/>
              </a:ext>
            </a:extLst>
          </p:cNvPr>
          <p:cNvSpPr txBox="1"/>
          <p:nvPr/>
        </p:nvSpPr>
        <p:spPr>
          <a:xfrm>
            <a:off x="434550" y="30431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" sz="3000" b="1" i="0" u="none" strike="noStrike" cap="non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Introduction </a:t>
            </a:r>
            <a:endParaRPr sz="2100" b="1" i="0" u="none" strike="noStrike" cap="non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02" name="Google Shape;102;p3">
            <a:extLst>
              <a:ext uri="{FF2B5EF4-FFF2-40B4-BE49-F238E27FC236}">
                <a16:creationId xmlns:a16="http://schemas.microsoft.com/office/drawing/2014/main" id="{432B1801-FD2D-C5D7-DC5D-BCB0240D71DC}"/>
              </a:ext>
            </a:extLst>
          </p:cNvPr>
          <p:cNvSpPr txBox="1"/>
          <p:nvPr/>
        </p:nvSpPr>
        <p:spPr>
          <a:xfrm>
            <a:off x="365700" y="1192250"/>
            <a:ext cx="8377500" cy="14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" sz="2000" b="1" i="0" u="none" strike="noStrike" cap="none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Explanations</a:t>
            </a:r>
            <a:r>
              <a:rPr lang="en" sz="2000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en" sz="2000" b="0" i="0" u="none" strike="noStrike" cap="none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are </a:t>
            </a:r>
            <a:r>
              <a:rPr lang="en" sz="2000" b="0" i="1" u="none" strike="noStrike" cap="none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diverse</a:t>
            </a:r>
            <a:r>
              <a:rPr lang="en" sz="2000" b="0" i="0" u="none" strike="noStrike" cap="none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; there is usually </a:t>
            </a:r>
            <a:r>
              <a:rPr lang="en" sz="2000" b="0" i="0" u="sng" strike="noStrike" cap="none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more than one way</a:t>
            </a:r>
            <a:r>
              <a:rPr lang="en" sz="2000" b="0" i="0" u="none" strike="noStrike" cap="none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of expressing the rationale behind a choice.</a:t>
            </a:r>
            <a:endParaRPr sz="1800" b="0" i="0" u="none" strike="noStrike" cap="none" dirty="0">
              <a:solidFill>
                <a:schemeClr val="dk1"/>
              </a:solidFill>
              <a:latin typeface="Nunito Light"/>
              <a:ea typeface="Nunito Light"/>
              <a:cs typeface="Nunito Light"/>
              <a:sym typeface="Nunito Light"/>
            </a:endParaRPr>
          </a:p>
        </p:txBody>
      </p:sp>
      <p:sp>
        <p:nvSpPr>
          <p:cNvPr id="103" name="Google Shape;103;p3">
            <a:extLst>
              <a:ext uri="{FF2B5EF4-FFF2-40B4-BE49-F238E27FC236}">
                <a16:creationId xmlns:a16="http://schemas.microsoft.com/office/drawing/2014/main" id="{111189DC-0BA2-E258-ACF7-5557E21DAD6C}"/>
              </a:ext>
            </a:extLst>
          </p:cNvPr>
          <p:cNvSpPr/>
          <p:nvPr/>
        </p:nvSpPr>
        <p:spPr>
          <a:xfrm>
            <a:off x="8348100" y="6373475"/>
            <a:ext cx="484200" cy="372300"/>
          </a:xfrm>
          <a:prstGeom prst="roundRect">
            <a:avLst>
              <a:gd name="adj" fmla="val 16667"/>
            </a:avLst>
          </a:prstGeom>
          <a:solidFill>
            <a:srgbClr val="0000D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sz="1400" b="0" i="0" u="none" strike="noStrike" cap="non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04" name="Google Shape;104;p3">
            <a:extLst>
              <a:ext uri="{FF2B5EF4-FFF2-40B4-BE49-F238E27FC236}">
                <a16:creationId xmlns:a16="http://schemas.microsoft.com/office/drawing/2014/main" id="{0286FA88-1722-DBCB-7BA5-0746C99C1EEE}"/>
              </a:ext>
            </a:extLst>
          </p:cNvPr>
          <p:cNvSpPr/>
          <p:nvPr/>
        </p:nvSpPr>
        <p:spPr>
          <a:xfrm>
            <a:off x="240125" y="304325"/>
            <a:ext cx="147600" cy="614400"/>
          </a:xfrm>
          <a:prstGeom prst="roundRect">
            <a:avLst>
              <a:gd name="adj" fmla="val 16667"/>
            </a:avLst>
          </a:prstGeom>
          <a:solidFill>
            <a:srgbClr val="0000D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rgbClr val="FF00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" name="Google Shape;112;g362a475d704_0_43">
            <a:extLst>
              <a:ext uri="{FF2B5EF4-FFF2-40B4-BE49-F238E27FC236}">
                <a16:creationId xmlns:a16="http://schemas.microsoft.com/office/drawing/2014/main" id="{39488A33-64E1-3321-81EF-D4AE936141C5}"/>
              </a:ext>
            </a:extLst>
          </p:cNvPr>
          <p:cNvGrpSpPr/>
          <p:nvPr/>
        </p:nvGrpSpPr>
        <p:grpSpPr>
          <a:xfrm>
            <a:off x="2316873" y="2207389"/>
            <a:ext cx="4547492" cy="4346294"/>
            <a:chOff x="4749975" y="1165698"/>
            <a:chExt cx="4082324" cy="4049026"/>
          </a:xfrm>
        </p:grpSpPr>
        <p:pic>
          <p:nvPicPr>
            <p:cNvPr id="3" name="Google Shape;113;g362a475d704_0_43">
              <a:extLst>
                <a:ext uri="{FF2B5EF4-FFF2-40B4-BE49-F238E27FC236}">
                  <a16:creationId xmlns:a16="http://schemas.microsoft.com/office/drawing/2014/main" id="{0A40CE96-742E-90AF-0B12-D0AC970D20EB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 b="19034"/>
            <a:stretch/>
          </p:blipFill>
          <p:spPr>
            <a:xfrm>
              <a:off x="4749975" y="1165698"/>
              <a:ext cx="4082324" cy="4049026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pic>
        <p:sp>
          <p:nvSpPr>
            <p:cNvPr id="4" name="Google Shape;114;g362a475d704_0_43">
              <a:extLst>
                <a:ext uri="{FF2B5EF4-FFF2-40B4-BE49-F238E27FC236}">
                  <a16:creationId xmlns:a16="http://schemas.microsoft.com/office/drawing/2014/main" id="{0CFB5109-FA87-C533-853E-7FB62AFEBCAB}"/>
                </a:ext>
              </a:extLst>
            </p:cNvPr>
            <p:cNvSpPr/>
            <p:nvPr/>
          </p:nvSpPr>
          <p:spPr>
            <a:xfrm>
              <a:off x="4806575" y="4675375"/>
              <a:ext cx="2969700" cy="477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34878976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"/>
          <p:cNvSpPr txBox="1"/>
          <p:nvPr/>
        </p:nvSpPr>
        <p:spPr>
          <a:xfrm>
            <a:off x="434550" y="30431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" sz="3000" b="1" i="0" u="none" strike="noStrike" cap="non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Introduction </a:t>
            </a:r>
            <a:endParaRPr sz="2100" b="1" i="0" u="none" strike="noStrike" cap="non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0" name="Google Shape;120;p4"/>
          <p:cNvSpPr txBox="1"/>
          <p:nvPr/>
        </p:nvSpPr>
        <p:spPr>
          <a:xfrm>
            <a:off x="365700" y="1192238"/>
            <a:ext cx="8412600" cy="48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000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Common practice is to</a:t>
            </a:r>
            <a:r>
              <a:rPr lang="en" sz="2000" b="0" i="0" u="none" strike="noStrike" cap="none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use </a:t>
            </a:r>
            <a:r>
              <a:rPr lang="en" sz="2000" b="1" i="0" u="none" strike="noStrike" cap="none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human evaluators</a:t>
            </a:r>
            <a:r>
              <a:rPr lang="en" sz="2000" b="1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en" sz="2000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to assess their quality.</a:t>
            </a:r>
            <a:br>
              <a:rPr lang="en" sz="2000" b="1" i="0" u="none" strike="noStrike" cap="none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</a:br>
            <a:endParaRPr sz="2000" b="0" i="0" u="none" strike="noStrike" cap="none" dirty="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000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But t</a:t>
            </a:r>
            <a:r>
              <a:rPr lang="en" sz="2000" b="0" i="0" u="none" strike="noStrike" cap="none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hese</a:t>
            </a:r>
            <a:r>
              <a:rPr lang="en" sz="2000" b="1" i="0" u="none" strike="noStrike" cap="none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evaluations </a:t>
            </a:r>
            <a:r>
              <a:rPr lang="en" sz="2000" b="1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often rely on</a:t>
            </a:r>
            <a:r>
              <a:rPr lang="en" sz="2000" b="1" i="0" u="none" strike="noStrike" cap="none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en" sz="2000" b="1" i="0" u="sng" strike="noStrike" cap="none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intuition</a:t>
            </a:r>
            <a:r>
              <a:rPr lang="en" sz="2000" b="0" i="0" u="none" strike="noStrike" cap="none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, rather than formal definitions </a:t>
            </a:r>
            <a:r>
              <a:rPr lang="en" sz="1500" b="0" i="0" u="none" strike="noStrike" cap="none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(Clark et al., 2021)</a:t>
            </a:r>
            <a:r>
              <a:rPr lang="en" sz="2000" b="0" i="0" u="none" strike="noStrike" cap="none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.</a:t>
            </a:r>
            <a:endParaRPr sz="2000" b="0" i="0" u="none" strike="noStrike" cap="none" dirty="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Nunito Light"/>
              <a:ea typeface="Nunito Light"/>
              <a:cs typeface="Nunito Light"/>
              <a:sym typeface="Nunito Ligh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Nunito Light"/>
              <a:ea typeface="Nunito Light"/>
              <a:cs typeface="Nunito Light"/>
              <a:sym typeface="Nunito Ligh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Nunito Light"/>
              <a:ea typeface="Nunito Light"/>
              <a:cs typeface="Nunito Light"/>
              <a:sym typeface="Nunito Ligh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Nunito Light"/>
              <a:ea typeface="Nunito Light"/>
              <a:cs typeface="Nunito Light"/>
              <a:sym typeface="Nunito Ligh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Nunito Light"/>
              <a:ea typeface="Nunito Light"/>
              <a:cs typeface="Nunito Light"/>
              <a:sym typeface="Nunito Ligh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000" b="0" i="0" u="none" strike="noStrike" cap="none" dirty="0">
              <a:solidFill>
                <a:srgbClr val="0000DC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4572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24767F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Nunito Light"/>
              <a:ea typeface="Nunito Light"/>
              <a:cs typeface="Nunito Light"/>
              <a:sym typeface="Nunito Ligh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Nunito Light"/>
              <a:ea typeface="Nunito Light"/>
              <a:cs typeface="Nunito Light"/>
              <a:sym typeface="Nunito Ligh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Nunito Light"/>
              <a:ea typeface="Nunito Light"/>
              <a:cs typeface="Nunito Light"/>
              <a:sym typeface="Nunito Ligh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Nunito Light"/>
              <a:ea typeface="Nunito Light"/>
              <a:cs typeface="Nunito Light"/>
              <a:sym typeface="Nunito Ligh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 dirty="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13716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Nunito Light"/>
              <a:ea typeface="Nunito Light"/>
              <a:cs typeface="Nunito Light"/>
              <a:sym typeface="Nunito Light"/>
            </a:endParaRPr>
          </a:p>
        </p:txBody>
      </p:sp>
      <p:grpSp>
        <p:nvGrpSpPr>
          <p:cNvPr id="121" name="Google Shape;121;p4"/>
          <p:cNvGrpSpPr/>
          <p:nvPr/>
        </p:nvGrpSpPr>
        <p:grpSpPr>
          <a:xfrm>
            <a:off x="2155799" y="3182032"/>
            <a:ext cx="5078102" cy="1441306"/>
            <a:chOff x="2306524" y="3792732"/>
            <a:chExt cx="5078102" cy="1441306"/>
          </a:xfrm>
        </p:grpSpPr>
        <p:pic>
          <p:nvPicPr>
            <p:cNvPr id="122" name="Google Shape;122;p4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306524" y="3792732"/>
              <a:ext cx="1330502" cy="144130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3" name="Google Shape;123;p4"/>
            <p:cNvSpPr/>
            <p:nvPr/>
          </p:nvSpPr>
          <p:spPr>
            <a:xfrm>
              <a:off x="3700601" y="3820700"/>
              <a:ext cx="2326800" cy="644100"/>
            </a:xfrm>
            <a:prstGeom prst="roundRect">
              <a:avLst>
                <a:gd name="adj" fmla="val 16667"/>
              </a:avLst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" sz="1400" b="0" i="1" u="none" strike="noStrike" cap="none" dirty="0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The following explanation is…</a:t>
              </a:r>
              <a:endParaRPr sz="1400" b="0" i="1" u="none" strike="noStrike" cap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grpSp>
          <p:nvGrpSpPr>
            <p:cNvPr id="124" name="Google Shape;124;p4"/>
            <p:cNvGrpSpPr/>
            <p:nvPr/>
          </p:nvGrpSpPr>
          <p:grpSpPr>
            <a:xfrm>
              <a:off x="3637026" y="4777407"/>
              <a:ext cx="3747600" cy="400200"/>
              <a:chOff x="4177825" y="4802825"/>
              <a:chExt cx="3747600" cy="400200"/>
            </a:xfrm>
          </p:grpSpPr>
          <p:sp>
            <p:nvSpPr>
              <p:cNvPr id="125" name="Google Shape;125;p4"/>
              <p:cNvSpPr txBox="1"/>
              <p:nvPr/>
            </p:nvSpPr>
            <p:spPr>
              <a:xfrm>
                <a:off x="4177825" y="4802825"/>
                <a:ext cx="3747600" cy="40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lang="en" sz="1400" b="0" i="1" u="none" strike="noStrike" cap="none">
                    <a:solidFill>
                      <a:schemeClr val="dk2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Not good</a:t>
                </a:r>
                <a:r>
                  <a:rPr lang="en" sz="1400" b="0" i="0" u="none" strike="noStrike" cap="none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  👎  </a:t>
                </a:r>
                <a:r>
                  <a:rPr lang="en"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__ __ __ __ _</a:t>
                </a:r>
                <a:r>
                  <a:rPr lang="en" sz="1400" b="0" i="0" u="none" strike="noStrike" cap="none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  👍 </a:t>
                </a:r>
                <a:r>
                  <a:rPr lang="en" sz="1400" b="0" i="1" u="none" strike="noStrike" cap="none">
                    <a:solidFill>
                      <a:schemeClr val="dk2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Good</a:t>
                </a:r>
                <a:endParaRPr sz="1400" b="0" i="1" u="none" strike="noStrike" cap="none">
                  <a:solidFill>
                    <a:schemeClr val="dk2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  <p:sp>
            <p:nvSpPr>
              <p:cNvPr id="126" name="Google Shape;126;p4"/>
              <p:cNvSpPr/>
              <p:nvPr/>
            </p:nvSpPr>
            <p:spPr>
              <a:xfrm>
                <a:off x="5506175" y="4912700"/>
                <a:ext cx="147600" cy="153900"/>
              </a:xfrm>
              <a:prstGeom prst="ellipse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" name="Google Shape;127;p4"/>
              <p:cNvSpPr/>
              <p:nvPr/>
            </p:nvSpPr>
            <p:spPr>
              <a:xfrm>
                <a:off x="5734775" y="4912700"/>
                <a:ext cx="147600" cy="153900"/>
              </a:xfrm>
              <a:prstGeom prst="ellipse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8" name="Google Shape;128;p4"/>
              <p:cNvSpPr/>
              <p:nvPr/>
            </p:nvSpPr>
            <p:spPr>
              <a:xfrm>
                <a:off x="5963375" y="4912700"/>
                <a:ext cx="147600" cy="153900"/>
              </a:xfrm>
              <a:prstGeom prst="ellipse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9" name="Google Shape;129;p4"/>
              <p:cNvSpPr/>
              <p:nvPr/>
            </p:nvSpPr>
            <p:spPr>
              <a:xfrm>
                <a:off x="6191975" y="4912700"/>
                <a:ext cx="147600" cy="153900"/>
              </a:xfrm>
              <a:prstGeom prst="ellipse">
                <a:avLst/>
              </a:prstGeom>
              <a:solidFill>
                <a:schemeClr val="dk1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0" name="Google Shape;130;p4"/>
              <p:cNvSpPr/>
              <p:nvPr/>
            </p:nvSpPr>
            <p:spPr>
              <a:xfrm>
                <a:off x="6420575" y="4912700"/>
                <a:ext cx="147600" cy="153900"/>
              </a:xfrm>
              <a:prstGeom prst="ellipse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31" name="Google Shape;131;p4"/>
          <p:cNvSpPr/>
          <p:nvPr/>
        </p:nvSpPr>
        <p:spPr>
          <a:xfrm>
            <a:off x="240125" y="304325"/>
            <a:ext cx="147600" cy="614400"/>
          </a:xfrm>
          <a:prstGeom prst="roundRect">
            <a:avLst>
              <a:gd name="adj" fmla="val 16667"/>
            </a:avLst>
          </a:prstGeom>
          <a:solidFill>
            <a:srgbClr val="0000D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rgbClr val="FF00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4"/>
          <p:cNvSpPr/>
          <p:nvPr/>
        </p:nvSpPr>
        <p:spPr>
          <a:xfrm>
            <a:off x="8348100" y="6373475"/>
            <a:ext cx="484200" cy="372300"/>
          </a:xfrm>
          <a:prstGeom prst="roundRect">
            <a:avLst>
              <a:gd name="adj" fmla="val 16667"/>
            </a:avLst>
          </a:prstGeom>
          <a:solidFill>
            <a:srgbClr val="0000D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dirty="0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5</a:t>
            </a:r>
            <a:endParaRPr sz="1400" b="0" i="0" u="none" strike="noStrike" cap="none" dirty="0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33" name="Google Shape;133;p4"/>
          <p:cNvSpPr txBox="1"/>
          <p:nvPr/>
        </p:nvSpPr>
        <p:spPr>
          <a:xfrm>
            <a:off x="1178850" y="5147800"/>
            <a:ext cx="6786300" cy="8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000" b="1" i="0" u="none" strike="noStrike" cap="none" dirty="0">
                <a:solidFill>
                  <a:srgbClr val="0000DC"/>
                </a:solidFill>
                <a:latin typeface="Cambria"/>
                <a:ea typeface="Cambria"/>
                <a:cs typeface="Cambria"/>
                <a:sym typeface="Cambria"/>
              </a:rPr>
              <a:t>This form of evaluation is not systematic and prone to inconsistenc</a:t>
            </a:r>
            <a:r>
              <a:rPr lang="en" sz="2000" b="1" dirty="0">
                <a:solidFill>
                  <a:srgbClr val="0000DC"/>
                </a:solidFill>
                <a:latin typeface="Cambria"/>
                <a:ea typeface="Cambria"/>
                <a:cs typeface="Cambria"/>
                <a:sym typeface="Cambria"/>
              </a:rPr>
              <a:t>y.</a:t>
            </a:r>
            <a:endParaRPr sz="2000" b="1" i="0" u="none" strike="noStrike" cap="none" dirty="0">
              <a:solidFill>
                <a:srgbClr val="0000DC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34" name="Google Shape;134;p4"/>
          <p:cNvSpPr/>
          <p:nvPr/>
        </p:nvSpPr>
        <p:spPr>
          <a:xfrm>
            <a:off x="6163650" y="4146157"/>
            <a:ext cx="513000" cy="441300"/>
          </a:xfrm>
          <a:prstGeom prst="ellipse">
            <a:avLst/>
          </a:prstGeom>
          <a:noFill/>
          <a:ln w="19050" cap="flat" cmpd="sng">
            <a:solidFill>
              <a:srgbClr val="0000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4"/>
          <p:cNvSpPr txBox="1"/>
          <p:nvPr/>
        </p:nvSpPr>
        <p:spPr>
          <a:xfrm>
            <a:off x="6849450" y="3975350"/>
            <a:ext cx="1314000" cy="6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1" u="none" strike="noStrike" cap="none">
                <a:solidFill>
                  <a:srgbClr val="0000DC"/>
                </a:solidFill>
                <a:latin typeface="Cambria"/>
                <a:ea typeface="Cambria"/>
                <a:cs typeface="Cambria"/>
                <a:sym typeface="Cambria"/>
              </a:rPr>
              <a:t>What makes it “good”?</a:t>
            </a:r>
            <a:endParaRPr sz="1400" b="0" i="1" u="none" strike="noStrike" cap="none">
              <a:solidFill>
                <a:srgbClr val="0000DC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" grpId="0"/>
      <p:bldP spid="134" grpId="0" animBg="1"/>
      <p:bldP spid="13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66c45a6477_0_14"/>
          <p:cNvSpPr txBox="1"/>
          <p:nvPr/>
        </p:nvSpPr>
        <p:spPr>
          <a:xfrm>
            <a:off x="434550" y="30431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" sz="3000" b="1" i="0" u="none" strike="noStrike" cap="non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Our proposal </a:t>
            </a:r>
            <a:endParaRPr sz="2100" b="1" i="0" u="none" strike="noStrike" cap="non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41" name="Google Shape;141;g366c45a6477_0_14"/>
          <p:cNvSpPr/>
          <p:nvPr/>
        </p:nvSpPr>
        <p:spPr>
          <a:xfrm>
            <a:off x="240125" y="304325"/>
            <a:ext cx="147600" cy="614400"/>
          </a:xfrm>
          <a:prstGeom prst="roundRect">
            <a:avLst>
              <a:gd name="adj" fmla="val 16667"/>
            </a:avLst>
          </a:prstGeom>
          <a:solidFill>
            <a:srgbClr val="0000D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rgbClr val="FF00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g366c45a6477_0_14"/>
          <p:cNvSpPr/>
          <p:nvPr/>
        </p:nvSpPr>
        <p:spPr>
          <a:xfrm>
            <a:off x="8348100" y="6373475"/>
            <a:ext cx="484200" cy="372300"/>
          </a:xfrm>
          <a:prstGeom prst="roundRect">
            <a:avLst>
              <a:gd name="adj" fmla="val 16667"/>
            </a:avLst>
          </a:prstGeom>
          <a:solidFill>
            <a:srgbClr val="0000D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dirty="0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6</a:t>
            </a:r>
            <a:endParaRPr sz="1400" b="0" i="0" u="none" strike="noStrike" cap="none" dirty="0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43" name="Google Shape;143;g366c45a6477_0_14"/>
          <p:cNvSpPr txBox="1"/>
          <p:nvPr/>
        </p:nvSpPr>
        <p:spPr>
          <a:xfrm>
            <a:off x="629725" y="6330275"/>
            <a:ext cx="74448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500" b="0" i="1" u="none" strike="noStrike" cap="none" dirty="0">
                <a:solidFill>
                  <a:srgbClr val="0000DC"/>
                </a:solidFill>
                <a:latin typeface="Cambria"/>
                <a:ea typeface="Cambria"/>
                <a:cs typeface="Cambria"/>
                <a:sym typeface="Cambria"/>
              </a:rPr>
              <a:t>*Identified in different bodies of literature: cognitive and social sciences, XAI and NLG.</a:t>
            </a:r>
            <a:endParaRPr sz="1500" b="0" i="1" u="none" strike="noStrike" cap="none" dirty="0">
              <a:solidFill>
                <a:srgbClr val="0000DC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144" name="Google Shape;144;g366c45a6477_0_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00800" y="1341342"/>
            <a:ext cx="430620" cy="523379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g366c45a6477_0_14"/>
          <p:cNvSpPr txBox="1"/>
          <p:nvPr/>
        </p:nvSpPr>
        <p:spPr>
          <a:xfrm>
            <a:off x="365700" y="1192250"/>
            <a:ext cx="8377500" cy="44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457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" sz="2000" b="1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Rubrik</a:t>
            </a:r>
            <a:r>
              <a:rPr lang="en" sz="2000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: a rubric for </a:t>
            </a:r>
            <a:r>
              <a:rPr lang="en" sz="2000" b="1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explanation quality assessment</a:t>
            </a:r>
            <a:r>
              <a:rPr lang="en" sz="2000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.</a:t>
            </a:r>
            <a:br>
              <a:rPr lang="en" sz="2000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</a:br>
            <a:endParaRPr sz="2000" dirty="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457200" marR="0" lvl="0" indent="-3556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Char char="-"/>
            </a:pPr>
            <a:r>
              <a:rPr lang="en" sz="2000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Provides </a:t>
            </a:r>
            <a:r>
              <a:rPr lang="en" sz="2000" b="1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clear</a:t>
            </a:r>
            <a:r>
              <a:rPr lang="en" sz="2000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, </a:t>
            </a:r>
            <a:r>
              <a:rPr lang="en" sz="2000" b="1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consistent</a:t>
            </a:r>
            <a:r>
              <a:rPr lang="en" sz="2000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, and </a:t>
            </a:r>
            <a:r>
              <a:rPr lang="en" sz="2000" b="1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objective criteria</a:t>
            </a:r>
            <a:r>
              <a:rPr lang="en" sz="2000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for evaluation, following the rubric design principles set out by Dawson (2017).</a:t>
            </a:r>
            <a:br>
              <a:rPr lang="en" sz="2000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</a:br>
            <a:endParaRPr sz="2000" dirty="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457200" marR="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Char char="-"/>
            </a:pPr>
            <a:r>
              <a:rPr lang="en" sz="2000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Accounts for the </a:t>
            </a:r>
            <a:r>
              <a:rPr lang="en" sz="2000" b="1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diverse nature </a:t>
            </a:r>
            <a:r>
              <a:rPr lang="en" sz="2000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of explanations whilst also </a:t>
            </a:r>
            <a:br>
              <a:rPr lang="en" sz="2000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</a:br>
            <a:r>
              <a:rPr lang="en" sz="2000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identifying </a:t>
            </a:r>
            <a:r>
              <a:rPr lang="en" sz="2000" b="1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common characteristics</a:t>
            </a:r>
            <a:r>
              <a:rPr lang="en" sz="2000" dirty="0">
                <a:solidFill>
                  <a:srgbClr val="0000DC"/>
                </a:solidFill>
                <a:latin typeface="Cambria"/>
                <a:ea typeface="Cambria"/>
                <a:cs typeface="Cambria"/>
                <a:sym typeface="Cambria"/>
              </a:rPr>
              <a:t>*</a:t>
            </a:r>
            <a:r>
              <a:rPr lang="en" sz="2000" b="1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en" sz="2000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among them.</a:t>
            </a:r>
            <a:br>
              <a:rPr lang="en" sz="2000" dirty="0">
                <a:solidFill>
                  <a:srgbClr val="0000DC"/>
                </a:solidFill>
                <a:latin typeface="Cambria"/>
                <a:ea typeface="Cambria"/>
                <a:cs typeface="Cambria"/>
                <a:sym typeface="Cambria"/>
              </a:rPr>
            </a:br>
            <a:endParaRPr sz="2000" dirty="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Char char="-"/>
            </a:pPr>
            <a:r>
              <a:rPr lang="en" sz="2000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Can easily be adapted to any task.</a:t>
            </a:r>
            <a:endParaRPr sz="2200" dirty="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457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000" dirty="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Nunito Light"/>
              <a:ea typeface="Nunito Light"/>
              <a:cs typeface="Nunito Light"/>
              <a:sym typeface="Nunito Light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4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62a475d704_0_82"/>
          <p:cNvSpPr txBox="1"/>
          <p:nvPr/>
        </p:nvSpPr>
        <p:spPr>
          <a:xfrm>
            <a:off x="434550" y="30431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" sz="3000" b="1" i="0" u="none" strike="noStrike" cap="none" dirty="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Methodology: Overview</a:t>
            </a:r>
            <a:endParaRPr sz="2100" b="1" i="0" u="none" strike="noStrike" cap="none" dirty="0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51" name="Google Shape;151;g362a475d704_0_82"/>
          <p:cNvSpPr/>
          <p:nvPr/>
        </p:nvSpPr>
        <p:spPr>
          <a:xfrm>
            <a:off x="240125" y="304325"/>
            <a:ext cx="147600" cy="614400"/>
          </a:xfrm>
          <a:prstGeom prst="roundRect">
            <a:avLst>
              <a:gd name="adj" fmla="val 16667"/>
            </a:avLst>
          </a:prstGeom>
          <a:solidFill>
            <a:srgbClr val="F116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rgbClr val="FF00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g362a475d704_0_82"/>
          <p:cNvSpPr/>
          <p:nvPr/>
        </p:nvSpPr>
        <p:spPr>
          <a:xfrm>
            <a:off x="8348100" y="6373475"/>
            <a:ext cx="484200" cy="372300"/>
          </a:xfrm>
          <a:prstGeom prst="roundRect">
            <a:avLst>
              <a:gd name="adj" fmla="val 16667"/>
            </a:avLst>
          </a:prstGeom>
          <a:solidFill>
            <a:srgbClr val="F116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dirty="0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7</a:t>
            </a:r>
            <a:endParaRPr sz="1400" b="0" i="0" u="none" strike="noStrike" cap="none" dirty="0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53" name="Google Shape;153;g362a475d704_0_82"/>
          <p:cNvSpPr txBox="1"/>
          <p:nvPr/>
        </p:nvSpPr>
        <p:spPr>
          <a:xfrm>
            <a:off x="365700" y="1192238"/>
            <a:ext cx="8412600" cy="48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 dirty="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i="0" u="none" strike="noStrike" cap="none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Step 1:</a:t>
            </a:r>
            <a:r>
              <a:rPr lang="en" sz="2400" b="0" i="0" u="none" strike="noStrike" cap="none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Rubric design → </a:t>
            </a:r>
            <a:r>
              <a:rPr lang="en" sz="2400" b="1" i="0" u="none" strike="noStrike" cap="none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Rubrik</a:t>
            </a:r>
            <a:endParaRPr sz="1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9144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9144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Step 2:</a:t>
            </a:r>
            <a:r>
              <a:rPr lang="en" sz="2400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Rubric validation → </a:t>
            </a:r>
            <a:r>
              <a:rPr lang="en" sz="2400" b="1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CUBE dataset</a:t>
            </a:r>
            <a:endParaRPr sz="2400" dirty="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9144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914400" marR="0" lvl="1" indent="-2286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DC"/>
              </a:buClr>
              <a:buSzPts val="1600"/>
              <a:buFont typeface="Noto Sans Symbols"/>
              <a:buNone/>
            </a:pPr>
            <a:endParaRPr sz="2400" b="0" i="0" u="none" strike="noStrike" cap="none" dirty="0">
              <a:solidFill>
                <a:srgbClr val="0000DC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Nunito Light"/>
              <a:ea typeface="Nunito Light"/>
              <a:cs typeface="Nunito Light"/>
              <a:sym typeface="Nunito Ligh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Nunito Light"/>
              <a:ea typeface="Nunito Light"/>
              <a:cs typeface="Nunito Light"/>
              <a:sym typeface="Nunito Light"/>
            </a:endParaRPr>
          </a:p>
        </p:txBody>
      </p:sp>
      <p:cxnSp>
        <p:nvCxnSpPr>
          <p:cNvPr id="154" name="Google Shape;154;g362a475d704_0_82"/>
          <p:cNvCxnSpPr/>
          <p:nvPr/>
        </p:nvCxnSpPr>
        <p:spPr>
          <a:xfrm>
            <a:off x="819025" y="2110950"/>
            <a:ext cx="0" cy="9321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15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9"/>
          <p:cNvSpPr txBox="1"/>
          <p:nvPr/>
        </p:nvSpPr>
        <p:spPr>
          <a:xfrm>
            <a:off x="1278919" y="5609975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" sz="3000" b="1" i="0" u="none" strike="noStrike" cap="none" dirty="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Rubrik</a:t>
            </a:r>
            <a:endParaRPr sz="2100" b="1" i="0" u="none" strike="noStrike" cap="none" dirty="0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graphicFrame>
        <p:nvGraphicFramePr>
          <p:cNvPr id="187" name="Google Shape;187;p9"/>
          <p:cNvGraphicFramePr/>
          <p:nvPr/>
        </p:nvGraphicFramePr>
        <p:xfrm>
          <a:off x="680156" y="1588853"/>
          <a:ext cx="7908750" cy="3680295"/>
        </p:xfrm>
        <a:graphic>
          <a:graphicData uri="http://schemas.openxmlformats.org/drawingml/2006/table">
            <a:tbl>
              <a:tblPr>
                <a:noFill/>
                <a:tableStyleId>{0BA219C8-81FF-40D2-9AAD-F39E110716C0}</a:tableStyleId>
              </a:tblPr>
              <a:tblGrid>
                <a:gridCol w="190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46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8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95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71425"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1" u="none" strike="noStrike" cap="none" dirty="0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Type of explanation</a:t>
                      </a:r>
                      <a:endParaRPr sz="1400" b="1" u="none" strike="noStrike" cap="none" dirty="0">
                        <a:solidFill>
                          <a:schemeClr val="dk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1" u="none" strike="noStrike" cap="none" dirty="0">
                        <a:solidFill>
                          <a:schemeClr val="dk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1" u="none" strike="noStrike" cap="none" dirty="0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Components</a:t>
                      </a:r>
                      <a:endParaRPr sz="1400" b="1" u="none" strike="noStrike" cap="none" dirty="0">
                        <a:solidFill>
                          <a:schemeClr val="dk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strike="noStrike" cap="none" dirty="0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necessary parts of an explanation that contribute to its </a:t>
                      </a:r>
                      <a:r>
                        <a:rPr lang="en" sz="1000" i="1" u="none" strike="noStrike" cap="none" dirty="0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completeness</a:t>
                      </a:r>
                      <a:endParaRPr sz="1400" b="1" u="none" strike="noStrike" cap="none" dirty="0">
                        <a:solidFill>
                          <a:schemeClr val="dk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1" u="none" strike="noStrike" cap="non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Dimensions</a:t>
                      </a:r>
                      <a:endParaRPr sz="1400" b="1" u="none" strike="noStrike" cap="none">
                        <a:solidFill>
                          <a:schemeClr val="dk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  <a:p>
                      <a:pPr marL="45720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000"/>
                        <a:buFont typeface="Arial"/>
                        <a:buNone/>
                      </a:pPr>
                      <a:r>
                        <a:rPr lang="en" sz="1000" u="none" strike="noStrike" cap="non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necessary linguistic or content feature of an explanation that contributes to its </a:t>
                      </a:r>
                      <a:r>
                        <a:rPr lang="en" sz="1000" i="1" u="none" strike="noStrike" cap="non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quality</a:t>
                      </a:r>
                      <a:endParaRPr sz="1000" u="none" strike="noStrike" cap="none">
                        <a:solidFill>
                          <a:schemeClr val="dk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65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1" u="none" strike="noStrike" cap="non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Language</a:t>
                      </a:r>
                      <a:endParaRPr sz="1400" b="1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1" u="none" strike="noStrike" cap="non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Content</a:t>
                      </a:r>
                      <a:endParaRPr sz="1400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897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1" u="none" strike="noStrike" cap="none" dirty="0">
                        <a:solidFill>
                          <a:srgbClr val="FF0000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400" b="0" u="none" strike="noStrike" cap="none" dirty="0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1.a) Action</a:t>
                      </a:r>
                      <a:endParaRPr sz="1400" b="0" u="none" strike="noStrike" cap="none" dirty="0">
                        <a:solidFill>
                          <a:schemeClr val="dk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400" b="0" u="none" strike="noStrike" cap="none" dirty="0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1.b) Reason</a:t>
                      </a:r>
                      <a:endParaRPr sz="1400" b="0" u="none" strike="noStrike" cap="none" dirty="0">
                        <a:solidFill>
                          <a:schemeClr val="dk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0" u="none" strike="noStrike" cap="non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Grammaticality</a:t>
                      </a:r>
                      <a:endParaRPr sz="1400" b="0" u="none" strike="noStrike" cap="none">
                        <a:solidFill>
                          <a:schemeClr val="dk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0" u="none" strike="noStrike" cap="non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Word Choice</a:t>
                      </a:r>
                      <a:endParaRPr sz="1400" b="0" u="none" strike="noStrike" cap="none">
                        <a:solidFill>
                          <a:schemeClr val="dk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0" u="none" strike="noStrike" cap="non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Cohesion</a:t>
                      </a:r>
                      <a:endParaRPr sz="1400" b="0" u="none" strike="noStrike" cap="none">
                        <a:solidFill>
                          <a:schemeClr val="dk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0" u="none" strike="noStrike" cap="non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Conciseness</a:t>
                      </a:r>
                      <a:endParaRPr sz="1400" b="0" u="none" strike="noStrike" cap="none">
                        <a:solidFill>
                          <a:schemeClr val="dk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0" u="none" strike="noStrike" cap="non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Appropriateness</a:t>
                      </a:r>
                      <a:endParaRPr sz="1400" b="0" u="none" strike="noStrike" cap="none">
                        <a:solidFill>
                          <a:schemeClr val="dk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0" u="none" strike="noStrike" cap="non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Coherence</a:t>
                      </a:r>
                      <a:endParaRPr sz="1400" b="0" u="none" strike="noStrike" cap="none">
                        <a:solidFill>
                          <a:schemeClr val="dk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31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1" u="none" strike="noStrike" cap="none">
                        <a:solidFill>
                          <a:srgbClr val="FF0000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400" b="0" u="none" strike="noStrike" cap="non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2.a) Evidence</a:t>
                      </a:r>
                      <a:endParaRPr sz="1400" u="none" strike="noStrike" cap="none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1" u="none" strike="noStrike" cap="none">
                        <a:solidFill>
                          <a:srgbClr val="9900FF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1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0" u="none" strike="noStrike" cap="non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Plausibility</a:t>
                      </a:r>
                      <a:endParaRPr sz="1400" b="0" u="none" strike="noStrike" cap="none">
                        <a:solidFill>
                          <a:schemeClr val="dk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6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1" u="none" strike="noStrike" cap="none">
                        <a:solidFill>
                          <a:srgbClr val="FF0000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400" b="0" u="none" strike="noStrike" cap="non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3.a) Affective appeal(s) and Qualifier(s)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1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0" u="none" strike="noStrike" cap="none" dirty="0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Stance Clarity</a:t>
                      </a:r>
                      <a:endParaRPr sz="1400" b="0" u="none" strike="noStrike" cap="none" dirty="0">
                        <a:solidFill>
                          <a:schemeClr val="dk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188" name="Google Shape;188;p9" descr="A black text on a white background&#10;&#10;AI-generated content may be incorrect."/>
          <p:cNvPicPr preferRelativeResize="0"/>
          <p:nvPr/>
        </p:nvPicPr>
        <p:blipFill rotWithShape="1">
          <a:blip r:embed="rId4">
            <a:alphaModFix/>
          </a:blip>
          <a:srcRect t="-1" r="6017" b="-3357"/>
          <a:stretch/>
        </p:blipFill>
        <p:spPr>
          <a:xfrm>
            <a:off x="555090" y="3261571"/>
            <a:ext cx="1963896" cy="3569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9" descr="A black text on a white background&#10;&#10;AI-generated content may be incorrect.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9854" y="4120470"/>
            <a:ext cx="1963896" cy="3632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9" descr="A black text on a white background&#10;&#10;AI-generated content may be incorrect.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9854" y="4836750"/>
            <a:ext cx="1570418" cy="363264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9"/>
          <p:cNvSpPr/>
          <p:nvPr/>
        </p:nvSpPr>
        <p:spPr>
          <a:xfrm>
            <a:off x="8348100" y="6373475"/>
            <a:ext cx="484200" cy="372300"/>
          </a:xfrm>
          <a:prstGeom prst="roundRect">
            <a:avLst>
              <a:gd name="adj" fmla="val 16667"/>
            </a:avLst>
          </a:prstGeom>
          <a:solidFill>
            <a:srgbClr val="F116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 dirty="0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r>
              <a:rPr lang="en" dirty="0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0</a:t>
            </a:r>
            <a:endParaRPr sz="1400" b="0" i="0" u="none" strike="noStrike" cap="none" dirty="0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192" name="Google Shape;192;p9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18008" y="5622164"/>
            <a:ext cx="460911" cy="553185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150;g362a475d704_0_82">
            <a:extLst>
              <a:ext uri="{FF2B5EF4-FFF2-40B4-BE49-F238E27FC236}">
                <a16:creationId xmlns:a16="http://schemas.microsoft.com/office/drawing/2014/main" id="{510C95E0-2FF1-4560-969A-E50E08159443}"/>
              </a:ext>
            </a:extLst>
          </p:cNvPr>
          <p:cNvSpPr txBox="1"/>
          <p:nvPr/>
        </p:nvSpPr>
        <p:spPr>
          <a:xfrm>
            <a:off x="434550" y="30431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" sz="3000" b="1" i="0" u="none" strike="noStrike" cap="none" dirty="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Methodology: Step 1</a:t>
            </a:r>
            <a:endParaRPr sz="2100" b="1" i="0" u="none" strike="noStrike" cap="none" dirty="0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9" name="Google Shape;151;g362a475d704_0_82">
            <a:extLst>
              <a:ext uri="{FF2B5EF4-FFF2-40B4-BE49-F238E27FC236}">
                <a16:creationId xmlns:a16="http://schemas.microsoft.com/office/drawing/2014/main" id="{BCFE17C6-9234-B738-C904-40823D9AA99D}"/>
              </a:ext>
            </a:extLst>
          </p:cNvPr>
          <p:cNvSpPr/>
          <p:nvPr/>
        </p:nvSpPr>
        <p:spPr>
          <a:xfrm>
            <a:off x="240125" y="304325"/>
            <a:ext cx="147600" cy="614400"/>
          </a:xfrm>
          <a:prstGeom prst="roundRect">
            <a:avLst>
              <a:gd name="adj" fmla="val 16667"/>
            </a:avLst>
          </a:prstGeom>
          <a:solidFill>
            <a:srgbClr val="F116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rgbClr val="FF0000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9" name="Google Shape;199;p10"/>
          <p:cNvGraphicFramePr/>
          <p:nvPr/>
        </p:nvGraphicFramePr>
        <p:xfrm>
          <a:off x="680156" y="1588853"/>
          <a:ext cx="7908750" cy="3680295"/>
        </p:xfrm>
        <a:graphic>
          <a:graphicData uri="http://schemas.openxmlformats.org/drawingml/2006/table">
            <a:tbl>
              <a:tblPr>
                <a:noFill/>
                <a:tableStyleId>{0BA219C8-81FF-40D2-9AAD-F39E110716C0}</a:tableStyleId>
              </a:tblPr>
              <a:tblGrid>
                <a:gridCol w="190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46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8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95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71425"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1" u="none" strike="noStrike" cap="non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Type of explanation</a:t>
                      </a:r>
                      <a:endParaRPr sz="1400" b="1" u="none" strike="noStrike" cap="none">
                        <a:solidFill>
                          <a:schemeClr val="dk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1" u="none" strike="noStrike" cap="none">
                        <a:solidFill>
                          <a:schemeClr val="dk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1" u="none" strike="noStrike" cap="none" dirty="0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Components</a:t>
                      </a:r>
                      <a:endParaRPr sz="1400" b="1" u="none" strike="noStrike" cap="none" dirty="0">
                        <a:solidFill>
                          <a:schemeClr val="dk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strike="noStrike" cap="none" dirty="0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necessary parts of an explanation that contribute to its </a:t>
                      </a:r>
                      <a:r>
                        <a:rPr lang="en" sz="1000" i="1" u="none" strike="noStrike" cap="none" dirty="0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completeness</a:t>
                      </a:r>
                      <a:endParaRPr sz="1400" b="1" u="none" strike="noStrike" cap="none" dirty="0">
                        <a:solidFill>
                          <a:schemeClr val="dk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1" u="none" strike="noStrike" cap="non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Dimensions</a:t>
                      </a:r>
                      <a:endParaRPr sz="1400" b="1" u="none" strike="noStrike" cap="none">
                        <a:solidFill>
                          <a:schemeClr val="dk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  <a:p>
                      <a:pPr marL="45720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000"/>
                        <a:buFont typeface="Arial"/>
                        <a:buNone/>
                      </a:pPr>
                      <a:r>
                        <a:rPr lang="en" sz="1000" u="none" strike="noStrike" cap="non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necessary linguistic or content feature of an explanation that contributes to its </a:t>
                      </a:r>
                      <a:r>
                        <a:rPr lang="en" sz="1000" i="1" u="none" strike="noStrike" cap="non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quality</a:t>
                      </a:r>
                      <a:endParaRPr sz="1000" u="none" strike="noStrike" cap="none">
                        <a:solidFill>
                          <a:schemeClr val="dk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65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1" u="none" strike="noStrike" cap="non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Content</a:t>
                      </a:r>
                      <a:endParaRPr sz="1400" b="1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1" u="none" strike="noStrike" cap="non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Language</a:t>
                      </a:r>
                      <a:endParaRPr sz="1400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897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1" u="none" strike="noStrike" cap="none">
                        <a:solidFill>
                          <a:srgbClr val="FF0000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400" b="0" u="none" strike="noStrike" cap="none" dirty="0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1.a) Action</a:t>
                      </a:r>
                      <a:endParaRPr sz="1400" b="0" u="none" strike="noStrike" cap="none" dirty="0">
                        <a:solidFill>
                          <a:schemeClr val="dk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400" b="0" u="none" strike="noStrike" cap="none" dirty="0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1.b) Reason</a:t>
                      </a:r>
                      <a:endParaRPr sz="1400" b="0" u="none" strike="noStrike" cap="none" dirty="0">
                        <a:solidFill>
                          <a:schemeClr val="dk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0" u="none" strike="noStrike" cap="non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Grammaticality</a:t>
                      </a:r>
                      <a:endParaRPr sz="1400" b="0" u="none" strike="noStrike" cap="none">
                        <a:solidFill>
                          <a:schemeClr val="dk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0" u="none" strike="noStrike" cap="non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Word Choice</a:t>
                      </a:r>
                      <a:endParaRPr sz="1400" b="0" u="none" strike="noStrike" cap="none">
                        <a:solidFill>
                          <a:schemeClr val="dk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0" u="none" strike="noStrike" cap="non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Cohesion</a:t>
                      </a:r>
                      <a:endParaRPr sz="1400" b="0" u="none" strike="noStrike" cap="none">
                        <a:solidFill>
                          <a:schemeClr val="dk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0" u="none" strike="noStrike" cap="non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Conciseness</a:t>
                      </a:r>
                      <a:endParaRPr sz="1400" b="0" u="none" strike="noStrike" cap="none">
                        <a:solidFill>
                          <a:schemeClr val="dk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0" u="none" strike="noStrike" cap="non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Appropriateness</a:t>
                      </a:r>
                      <a:endParaRPr sz="1400" b="0" u="none" strike="noStrike" cap="none">
                        <a:solidFill>
                          <a:schemeClr val="dk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0" u="none" strike="noStrike" cap="non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Coherence</a:t>
                      </a:r>
                      <a:endParaRPr sz="1400" b="0" u="none" strike="noStrike" cap="none">
                        <a:solidFill>
                          <a:schemeClr val="dk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31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1" u="none" strike="noStrike" cap="none">
                        <a:solidFill>
                          <a:srgbClr val="FF0000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400" b="0" u="none" strike="noStrike" cap="non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2.a) Evidence</a:t>
                      </a:r>
                      <a:endParaRPr sz="1400" u="none" strike="noStrike" cap="none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1" u="none" strike="noStrike" cap="none">
                        <a:solidFill>
                          <a:srgbClr val="9900FF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1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0" u="none" strike="noStrike" cap="non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Plausibility</a:t>
                      </a:r>
                      <a:endParaRPr sz="1400" b="0" u="none" strike="noStrike" cap="none">
                        <a:solidFill>
                          <a:schemeClr val="dk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6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1" u="none" strike="noStrike" cap="none">
                        <a:solidFill>
                          <a:srgbClr val="FF0000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400" b="0" u="none" strike="noStrike" cap="non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3.a) Affective appeal(s) and Qualifier(s)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1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0" u="none" strike="noStrike" cap="none" dirty="0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Stance Clarity</a:t>
                      </a:r>
                      <a:endParaRPr sz="1400" b="0" u="none" strike="noStrike" cap="none" dirty="0">
                        <a:solidFill>
                          <a:schemeClr val="dk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200" name="Google Shape;200;p10" descr="A black text on a white background&#10;&#10;AI-generated content may be incorrect."/>
          <p:cNvPicPr preferRelativeResize="0"/>
          <p:nvPr/>
        </p:nvPicPr>
        <p:blipFill rotWithShape="1">
          <a:blip r:embed="rId4">
            <a:alphaModFix/>
          </a:blip>
          <a:srcRect t="-1" r="6017" b="-3357"/>
          <a:stretch/>
        </p:blipFill>
        <p:spPr>
          <a:xfrm>
            <a:off x="555090" y="3261571"/>
            <a:ext cx="1963896" cy="35694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10" descr="A black text on a white background&#10;&#10;AI-generated content may be incorrect.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9854" y="4120470"/>
            <a:ext cx="1963896" cy="36326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10" descr="A black text on a white background&#10;&#10;AI-generated content may be incorrect.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9854" y="4836750"/>
            <a:ext cx="1570418" cy="363264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10"/>
          <p:cNvSpPr/>
          <p:nvPr/>
        </p:nvSpPr>
        <p:spPr>
          <a:xfrm>
            <a:off x="8348100" y="6373475"/>
            <a:ext cx="484200" cy="372300"/>
          </a:xfrm>
          <a:prstGeom prst="roundRect">
            <a:avLst>
              <a:gd name="adj" fmla="val 16667"/>
            </a:avLst>
          </a:prstGeom>
          <a:solidFill>
            <a:srgbClr val="F116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 dirty="0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r>
              <a:rPr lang="en" dirty="0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sz="1400" b="0" i="0" u="none" strike="noStrike" cap="none" dirty="0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04" name="Google Shape;204;p10"/>
          <p:cNvSpPr/>
          <p:nvPr/>
        </p:nvSpPr>
        <p:spPr>
          <a:xfrm>
            <a:off x="2606915" y="1588853"/>
            <a:ext cx="6111783" cy="368029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10"/>
          <p:cNvSpPr txBox="1"/>
          <p:nvPr/>
        </p:nvSpPr>
        <p:spPr>
          <a:xfrm>
            <a:off x="2881608" y="3652029"/>
            <a:ext cx="273927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1" i="0" u="sng" strike="noStrike" cap="none" dirty="0">
                <a:solidFill>
                  <a:srgbClr val="0000DC"/>
                </a:solidFill>
                <a:latin typeface="Cambria"/>
                <a:ea typeface="Cambria"/>
                <a:cs typeface="Cambria"/>
                <a:sym typeface="Cambria"/>
              </a:rPr>
              <a:t>Goal</a:t>
            </a:r>
            <a:r>
              <a:rPr lang="en" sz="1800" b="1" i="0" u="none" strike="noStrike" cap="none" dirty="0">
                <a:solidFill>
                  <a:srgbClr val="0000DC"/>
                </a:solidFill>
                <a:latin typeface="Cambria"/>
                <a:ea typeface="Cambria"/>
                <a:cs typeface="Cambria"/>
                <a:sym typeface="Cambria"/>
              </a:rPr>
              <a:t>: Understanding </a:t>
            </a:r>
            <a:r>
              <a:rPr lang="en" sz="1800" b="0" i="0" u="none" strike="noStrike" cap="none" dirty="0">
                <a:solidFill>
                  <a:srgbClr val="0000DC"/>
                </a:solidFill>
                <a:latin typeface="Cambria"/>
                <a:ea typeface="Cambria"/>
                <a:cs typeface="Cambria"/>
                <a:sym typeface="Cambria"/>
              </a:rPr>
              <a:t>the underlying rationale</a:t>
            </a:r>
            <a:endParaRPr sz="1800" b="1" i="0" u="none" strike="noStrike" cap="none" dirty="0">
              <a:solidFill>
                <a:srgbClr val="0000DC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06" name="Google Shape;206;p10"/>
          <p:cNvSpPr txBox="1"/>
          <p:nvPr/>
        </p:nvSpPr>
        <p:spPr>
          <a:xfrm>
            <a:off x="2881607" y="4774473"/>
            <a:ext cx="341066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1" i="0" u="sng" strike="noStrike" cap="none" dirty="0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rPr>
              <a:t>Goal</a:t>
            </a:r>
            <a:r>
              <a:rPr lang="en" sz="1800" b="0" i="0" u="none" strike="noStrike" cap="none" dirty="0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rPr>
              <a:t>: </a:t>
            </a:r>
            <a:r>
              <a:rPr lang="en" sz="1800" b="1" i="0" u="none" strike="noStrike" cap="none" dirty="0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rPr>
              <a:t>Persuading</a:t>
            </a:r>
            <a:r>
              <a:rPr lang="en" sz="1800" b="0" i="0" u="none" strike="noStrike" cap="none" dirty="0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rPr>
              <a:t> the audience</a:t>
            </a:r>
            <a:endParaRPr sz="1800" b="1" i="0" u="none" strike="noStrike" cap="none" dirty="0">
              <a:solidFill>
                <a:srgbClr val="FF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07" name="Google Shape;207;p10"/>
          <p:cNvSpPr/>
          <p:nvPr/>
        </p:nvSpPr>
        <p:spPr>
          <a:xfrm>
            <a:off x="2639021" y="2995513"/>
            <a:ext cx="242587" cy="1656588"/>
          </a:xfrm>
          <a:prstGeom prst="rightBrace">
            <a:avLst>
              <a:gd name="adj1" fmla="val 8333"/>
              <a:gd name="adj2" fmla="val 50000"/>
            </a:avLst>
          </a:prstGeom>
          <a:noFill/>
          <a:ln w="28575" cap="flat" cmpd="sng">
            <a:solidFill>
              <a:srgbClr val="3B7FF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10"/>
          <p:cNvSpPr/>
          <p:nvPr/>
        </p:nvSpPr>
        <p:spPr>
          <a:xfrm>
            <a:off x="2639021" y="4725724"/>
            <a:ext cx="242587" cy="471321"/>
          </a:xfrm>
          <a:prstGeom prst="rightBrace">
            <a:avLst>
              <a:gd name="adj1" fmla="val 8333"/>
              <a:gd name="adj2" fmla="val 50000"/>
            </a:avLst>
          </a:prstGeom>
          <a:noFill/>
          <a:ln w="28575" cap="flat" cmpd="sng">
            <a:solidFill>
              <a:srgbClr val="F1160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10"/>
          <p:cNvSpPr/>
          <p:nvPr/>
        </p:nvSpPr>
        <p:spPr>
          <a:xfrm>
            <a:off x="202016" y="3147236"/>
            <a:ext cx="299909" cy="2100644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1160A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10"/>
          <p:cNvSpPr txBox="1"/>
          <p:nvPr/>
        </p:nvSpPr>
        <p:spPr>
          <a:xfrm>
            <a:off x="20335" y="2754666"/>
            <a:ext cx="691927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F1160A"/>
                </a:solidFill>
                <a:latin typeface="Cambria"/>
                <a:ea typeface="Cambria"/>
                <a:cs typeface="Cambria"/>
                <a:sym typeface="Cambria"/>
              </a:rPr>
              <a:t>Lower</a:t>
            </a:r>
            <a:endParaRPr sz="1400" b="0" i="0" u="none" strike="noStrike" cap="none">
              <a:solidFill>
                <a:srgbClr val="F1160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10"/>
          <p:cNvSpPr txBox="1"/>
          <p:nvPr/>
        </p:nvSpPr>
        <p:spPr>
          <a:xfrm>
            <a:off x="19799" y="5332673"/>
            <a:ext cx="820173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F1160A"/>
                </a:solidFill>
                <a:latin typeface="Cambria"/>
                <a:ea typeface="Cambria"/>
                <a:cs typeface="Cambria"/>
                <a:sym typeface="Cambria"/>
              </a:rPr>
              <a:t>Higher</a:t>
            </a:r>
            <a:endParaRPr sz="1400" b="0" i="0" u="none" strike="noStrike" cap="none">
              <a:solidFill>
                <a:srgbClr val="F1160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50;g362a475d704_0_82">
            <a:extLst>
              <a:ext uri="{FF2B5EF4-FFF2-40B4-BE49-F238E27FC236}">
                <a16:creationId xmlns:a16="http://schemas.microsoft.com/office/drawing/2014/main" id="{54978B42-8CA6-7D26-4D59-BE8B111E9588}"/>
              </a:ext>
            </a:extLst>
          </p:cNvPr>
          <p:cNvSpPr txBox="1"/>
          <p:nvPr/>
        </p:nvSpPr>
        <p:spPr>
          <a:xfrm>
            <a:off x="434550" y="30431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" sz="3000" b="1" i="0" u="none" strike="noStrike" cap="none" dirty="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Methodology: Step 1</a:t>
            </a:r>
            <a:endParaRPr sz="2100" b="1" i="0" u="none" strike="noStrike" cap="none" dirty="0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8" name="Google Shape;151;g362a475d704_0_82">
            <a:extLst>
              <a:ext uri="{FF2B5EF4-FFF2-40B4-BE49-F238E27FC236}">
                <a16:creationId xmlns:a16="http://schemas.microsoft.com/office/drawing/2014/main" id="{DBBD0310-7A65-4C29-C8B1-FADBB577F230}"/>
              </a:ext>
            </a:extLst>
          </p:cNvPr>
          <p:cNvSpPr/>
          <p:nvPr/>
        </p:nvSpPr>
        <p:spPr>
          <a:xfrm>
            <a:off x="240125" y="304325"/>
            <a:ext cx="147600" cy="614400"/>
          </a:xfrm>
          <a:prstGeom prst="roundRect">
            <a:avLst>
              <a:gd name="adj" fmla="val 16667"/>
            </a:avLst>
          </a:prstGeom>
          <a:solidFill>
            <a:srgbClr val="F116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rgbClr val="FF00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197;p10">
            <a:extLst>
              <a:ext uri="{FF2B5EF4-FFF2-40B4-BE49-F238E27FC236}">
                <a16:creationId xmlns:a16="http://schemas.microsoft.com/office/drawing/2014/main" id="{26EFAC2A-8507-F183-9BA9-C9AD4F14A9ED}"/>
              </a:ext>
            </a:extLst>
          </p:cNvPr>
          <p:cNvSpPr txBox="1"/>
          <p:nvPr/>
        </p:nvSpPr>
        <p:spPr>
          <a:xfrm>
            <a:off x="3032217" y="1757946"/>
            <a:ext cx="6111783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>
              <a:buSzPts val="3000"/>
            </a:pPr>
            <a:r>
              <a:rPr lang="en-GB" sz="2400" b="1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Hierarchical and nested:</a:t>
            </a:r>
          </a:p>
          <a:p>
            <a:pPr>
              <a:buSzPts val="3000"/>
            </a:pPr>
            <a:r>
              <a:rPr lang="en-GB" sz="2400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Argument ⊆ Justification ⊆ Commentary</a:t>
            </a:r>
            <a:endParaRPr lang="en-GB" sz="18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endParaRPr sz="2100" b="1" i="0" u="none" strike="noStrike" cap="none" dirty="0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" grpId="0"/>
      <p:bldP spid="206" grpId="0"/>
      <p:bldP spid="207" grpId="0" animBg="1"/>
      <p:bldP spid="208" grpId="0" animBg="1"/>
      <p:bldP spid="209" grpId="0" animBg="1"/>
      <p:bldP spid="210" grpId="0"/>
      <p:bldP spid="211" grpId="0"/>
      <p:bldP spid="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7" name="Google Shape;217;g3468426b1ed_0_45"/>
          <p:cNvGraphicFramePr/>
          <p:nvPr/>
        </p:nvGraphicFramePr>
        <p:xfrm>
          <a:off x="680156" y="1588853"/>
          <a:ext cx="7908750" cy="3680295"/>
        </p:xfrm>
        <a:graphic>
          <a:graphicData uri="http://schemas.openxmlformats.org/drawingml/2006/table">
            <a:tbl>
              <a:tblPr>
                <a:noFill/>
                <a:tableStyleId>{0BA219C8-81FF-40D2-9AAD-F39E110716C0}</a:tableStyleId>
              </a:tblPr>
              <a:tblGrid>
                <a:gridCol w="190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46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8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95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71425"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1" u="none" strike="noStrike" cap="non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Type of explanation</a:t>
                      </a:r>
                      <a:endParaRPr sz="1400" b="1" u="none" strike="noStrike" cap="none">
                        <a:solidFill>
                          <a:schemeClr val="dk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1" u="none" strike="noStrike" cap="none">
                        <a:solidFill>
                          <a:schemeClr val="dk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1" u="none" strike="noStrike" cap="none" dirty="0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Components</a:t>
                      </a:r>
                      <a:endParaRPr sz="1400" b="1" u="none" strike="noStrike" cap="none" dirty="0">
                        <a:solidFill>
                          <a:schemeClr val="dk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strike="noStrike" cap="none" dirty="0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necessary parts of an explanation that contribute to its </a:t>
                      </a:r>
                      <a:r>
                        <a:rPr lang="en" sz="1000" i="1" u="none" strike="noStrike" cap="none" dirty="0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completeness</a:t>
                      </a:r>
                      <a:endParaRPr sz="1400" b="1" u="none" strike="noStrike" cap="none" dirty="0">
                        <a:solidFill>
                          <a:schemeClr val="dk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1" u="none" strike="noStrike" cap="non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Dimensions</a:t>
                      </a:r>
                      <a:endParaRPr sz="1400" b="1" u="none" strike="noStrike" cap="none">
                        <a:solidFill>
                          <a:schemeClr val="dk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  <a:p>
                      <a:pPr marL="45720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000"/>
                        <a:buFont typeface="Arial"/>
                        <a:buNone/>
                      </a:pPr>
                      <a:r>
                        <a:rPr lang="en" sz="1000" u="none" strike="noStrike" cap="non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necessary linguistic or content feature of an explanation that contributes to its </a:t>
                      </a:r>
                      <a:r>
                        <a:rPr lang="en" sz="1000" i="1" u="none" strike="noStrike" cap="non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quality</a:t>
                      </a:r>
                      <a:endParaRPr sz="1000" u="none" strike="noStrike" cap="none">
                        <a:solidFill>
                          <a:schemeClr val="dk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65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1" u="none" strike="noStrike" cap="non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Language</a:t>
                      </a:r>
                      <a:endParaRPr sz="1400" b="1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1" u="none" strike="noStrike" cap="non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Content</a:t>
                      </a:r>
                      <a:endParaRPr sz="1400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897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1" u="none" strike="noStrike" cap="none">
                        <a:solidFill>
                          <a:srgbClr val="DDDDDD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400" b="0" u="none" strike="noStrike" cap="none" dirty="0">
                          <a:solidFill>
                            <a:srgbClr val="DDDDDD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1.a) Action</a:t>
                      </a:r>
                      <a:endParaRPr sz="1400" b="0" u="none" strike="noStrike" cap="none" dirty="0">
                        <a:solidFill>
                          <a:srgbClr val="DDDDDD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400" b="0" u="none" strike="noStrike" cap="none" dirty="0">
                          <a:solidFill>
                            <a:srgbClr val="DDDDDD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1.b) Reason</a:t>
                      </a:r>
                      <a:endParaRPr sz="1400" b="0" u="none" strike="noStrike" cap="none" dirty="0">
                        <a:solidFill>
                          <a:srgbClr val="DDDDDD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0" u="none" strike="noStrike" cap="none">
                          <a:solidFill>
                            <a:srgbClr val="DDDDDD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Grammaticality</a:t>
                      </a:r>
                      <a:endParaRPr sz="1400" b="0" u="none" strike="noStrike" cap="none">
                        <a:solidFill>
                          <a:srgbClr val="DDDDDD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0" u="none" strike="noStrike" cap="none">
                          <a:solidFill>
                            <a:srgbClr val="DDDDDD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Word Choice</a:t>
                      </a:r>
                      <a:endParaRPr sz="1400" b="0" u="none" strike="noStrike" cap="none">
                        <a:solidFill>
                          <a:srgbClr val="DDDDDD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0" u="none" strike="noStrike" cap="none">
                          <a:solidFill>
                            <a:srgbClr val="DDDDDD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Cohesion</a:t>
                      </a:r>
                      <a:endParaRPr sz="1400" b="0" u="none" strike="noStrike" cap="none">
                        <a:solidFill>
                          <a:srgbClr val="DDDDDD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0" u="none" strike="noStrike" cap="none">
                          <a:solidFill>
                            <a:srgbClr val="DDDDDD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Conciseness</a:t>
                      </a:r>
                      <a:endParaRPr sz="1400" b="0" u="none" strike="noStrike" cap="none">
                        <a:solidFill>
                          <a:srgbClr val="DDDDDD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0" u="none" strike="noStrike" cap="none">
                          <a:solidFill>
                            <a:srgbClr val="DDDDDD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Appropriateness</a:t>
                      </a:r>
                      <a:endParaRPr sz="1400" b="0" u="none" strike="noStrike" cap="none">
                        <a:solidFill>
                          <a:srgbClr val="DDDDDD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0" u="none" strike="noStrike" cap="none">
                          <a:solidFill>
                            <a:srgbClr val="DDDDDD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Coherence</a:t>
                      </a:r>
                      <a:endParaRPr sz="1400" b="0" u="none" strike="noStrike" cap="none">
                        <a:solidFill>
                          <a:srgbClr val="DDDDDD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31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1" u="none" strike="noStrike" cap="none">
                        <a:solidFill>
                          <a:srgbClr val="DDDDDD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400" b="0" u="none" strike="noStrike" cap="none">
                          <a:solidFill>
                            <a:srgbClr val="DDDDDD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2.a) Evidence</a:t>
                      </a:r>
                      <a:endParaRPr sz="1400" u="none" strike="noStrike" cap="none">
                        <a:solidFill>
                          <a:srgbClr val="DDDDDD"/>
                        </a:solidFill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1" u="none" strike="noStrike" cap="none">
                        <a:solidFill>
                          <a:srgbClr val="DDDDDD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1" u="none" strike="noStrike" cap="none">
                        <a:solidFill>
                          <a:srgbClr val="DDDDDD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0" u="none" strike="noStrike" cap="none">
                          <a:solidFill>
                            <a:srgbClr val="DDDDDD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Plausibility</a:t>
                      </a:r>
                      <a:endParaRPr sz="1400" b="0" u="none" strike="noStrike" cap="none">
                        <a:solidFill>
                          <a:srgbClr val="DDDDDD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6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1" u="none" strike="noStrike" cap="none">
                        <a:solidFill>
                          <a:srgbClr val="DDDDDD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400" b="0" u="none" strike="noStrike" cap="none">
                          <a:solidFill>
                            <a:srgbClr val="DDDDDD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3.a) Affective appeal(s) and Qualifier(s)</a:t>
                      </a:r>
                      <a:endParaRPr sz="1400" u="none" strike="noStrike" cap="none">
                        <a:solidFill>
                          <a:srgbClr val="DDDDDD"/>
                        </a:solidFill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1" u="none" strike="noStrike" cap="none">
                        <a:solidFill>
                          <a:srgbClr val="DDDDDD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0" u="none" strike="noStrike" cap="none" dirty="0">
                          <a:solidFill>
                            <a:srgbClr val="DDDDDD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Stance Clarity</a:t>
                      </a:r>
                      <a:endParaRPr sz="1400" b="0" u="none" strike="noStrike" cap="none" dirty="0">
                        <a:solidFill>
                          <a:srgbClr val="DDDDDD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218" name="Google Shape;218;g3468426b1ed_0_45" descr="A black text on a white background&#10;&#10;AI-generated content may be incorrect."/>
          <p:cNvPicPr preferRelativeResize="0"/>
          <p:nvPr/>
        </p:nvPicPr>
        <p:blipFill rotWithShape="1">
          <a:blip r:embed="rId4">
            <a:alphaModFix/>
          </a:blip>
          <a:srcRect r="6015" b="-3358"/>
          <a:stretch/>
        </p:blipFill>
        <p:spPr>
          <a:xfrm>
            <a:off x="555090" y="3261571"/>
            <a:ext cx="1963896" cy="35694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g3468426b1ed_0_45" descr="A black text on a white background&#10;&#10;AI-generated content may be incorrect.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9854" y="4120470"/>
            <a:ext cx="1963896" cy="363264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g3468426b1ed_0_45" descr="A black text on a white background&#10;&#10;AI-generated content may be incorrect.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9854" y="4836750"/>
            <a:ext cx="1570418" cy="363264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g3468426b1ed_0_45"/>
          <p:cNvSpPr/>
          <p:nvPr/>
        </p:nvSpPr>
        <p:spPr>
          <a:xfrm>
            <a:off x="8348100" y="6373475"/>
            <a:ext cx="484200" cy="372300"/>
          </a:xfrm>
          <a:prstGeom prst="roundRect">
            <a:avLst>
              <a:gd name="adj" fmla="val 16667"/>
            </a:avLst>
          </a:prstGeom>
          <a:solidFill>
            <a:srgbClr val="F116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 dirty="0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12</a:t>
            </a:r>
            <a:endParaRPr sz="1400" b="0" i="0" u="none" strike="noStrike" cap="none" dirty="0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23" name="Google Shape;223;g3468426b1ed_0_45"/>
          <p:cNvSpPr/>
          <p:nvPr/>
        </p:nvSpPr>
        <p:spPr>
          <a:xfrm rot="-5400000">
            <a:off x="5503125" y="-1808925"/>
            <a:ext cx="300000" cy="63342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1160A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g3468426b1ed_0_45"/>
          <p:cNvSpPr/>
          <p:nvPr/>
        </p:nvSpPr>
        <p:spPr>
          <a:xfrm>
            <a:off x="2590800" y="1581150"/>
            <a:ext cx="2043600" cy="1355700"/>
          </a:xfrm>
          <a:prstGeom prst="rect">
            <a:avLst/>
          </a:prstGeom>
          <a:noFill/>
          <a:ln w="28575" cap="flat" cmpd="sng">
            <a:solidFill>
              <a:srgbClr val="F1160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g3468426b1ed_0_45"/>
          <p:cNvSpPr/>
          <p:nvPr/>
        </p:nvSpPr>
        <p:spPr>
          <a:xfrm>
            <a:off x="4695825" y="1581150"/>
            <a:ext cx="3893100" cy="1355700"/>
          </a:xfrm>
          <a:prstGeom prst="rect">
            <a:avLst/>
          </a:prstGeom>
          <a:noFill/>
          <a:ln w="28575" cap="flat" cmpd="sng">
            <a:solidFill>
              <a:srgbClr val="F1160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150;g362a475d704_0_82">
            <a:extLst>
              <a:ext uri="{FF2B5EF4-FFF2-40B4-BE49-F238E27FC236}">
                <a16:creationId xmlns:a16="http://schemas.microsoft.com/office/drawing/2014/main" id="{FC5D08D2-CC93-B1F8-E1E4-E9F9F6AC5602}"/>
              </a:ext>
            </a:extLst>
          </p:cNvPr>
          <p:cNvSpPr txBox="1"/>
          <p:nvPr/>
        </p:nvSpPr>
        <p:spPr>
          <a:xfrm>
            <a:off x="434550" y="30431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" sz="3000" b="1" i="0" u="none" strike="noStrike" cap="none" dirty="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Methodology: Step 1</a:t>
            </a:r>
            <a:endParaRPr sz="2100" b="1" i="0" u="none" strike="noStrike" cap="none" dirty="0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9" name="Google Shape;151;g362a475d704_0_82">
            <a:extLst>
              <a:ext uri="{FF2B5EF4-FFF2-40B4-BE49-F238E27FC236}">
                <a16:creationId xmlns:a16="http://schemas.microsoft.com/office/drawing/2014/main" id="{0FA7178A-BE66-21B9-C75C-174CA2A4CFAB}"/>
              </a:ext>
            </a:extLst>
          </p:cNvPr>
          <p:cNvSpPr/>
          <p:nvPr/>
        </p:nvSpPr>
        <p:spPr>
          <a:xfrm>
            <a:off x="240125" y="304325"/>
            <a:ext cx="147600" cy="614400"/>
          </a:xfrm>
          <a:prstGeom prst="roundRect">
            <a:avLst>
              <a:gd name="adj" fmla="val 16667"/>
            </a:avLst>
          </a:prstGeom>
          <a:solidFill>
            <a:srgbClr val="F116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rgbClr val="FF00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69628C7-C2C8-6C43-58CB-C4C7E170C76C}"/>
              </a:ext>
            </a:extLst>
          </p:cNvPr>
          <p:cNvSpPr/>
          <p:nvPr/>
        </p:nvSpPr>
        <p:spPr>
          <a:xfrm>
            <a:off x="3432600" y="2353060"/>
            <a:ext cx="360000" cy="360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98F0480-B03C-CEF0-A9E4-B8C0A76C6920}"/>
              </a:ext>
            </a:extLst>
          </p:cNvPr>
          <p:cNvSpPr/>
          <p:nvPr/>
        </p:nvSpPr>
        <p:spPr>
          <a:xfrm>
            <a:off x="6501914" y="2353060"/>
            <a:ext cx="360000" cy="360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3" grpId="0" animBg="1"/>
      <p:bldP spid="225" grpId="0" animBg="1"/>
      <p:bldP spid="226" grpId="0" animBg="1"/>
      <p:bldP spid="11" grpId="0" animBg="1"/>
      <p:bldP spid="1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4" name="Google Shape;234;p11"/>
          <p:cNvGraphicFramePr/>
          <p:nvPr/>
        </p:nvGraphicFramePr>
        <p:xfrm>
          <a:off x="680156" y="1588853"/>
          <a:ext cx="7908750" cy="3680295"/>
        </p:xfrm>
        <a:graphic>
          <a:graphicData uri="http://schemas.openxmlformats.org/drawingml/2006/table">
            <a:tbl>
              <a:tblPr>
                <a:noFill/>
                <a:tableStyleId>{0BA219C8-81FF-40D2-9AAD-F39E110716C0}</a:tableStyleId>
              </a:tblPr>
              <a:tblGrid>
                <a:gridCol w="190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46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8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95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71425"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1" u="none" strike="noStrike" cap="non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Type of explanation</a:t>
                      </a:r>
                      <a:endParaRPr sz="1400" b="1" u="none" strike="noStrike" cap="none">
                        <a:solidFill>
                          <a:schemeClr val="dk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1" u="none" strike="noStrike" cap="none">
                        <a:solidFill>
                          <a:schemeClr val="dk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1" u="none" strike="noStrike" cap="non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Components</a:t>
                      </a:r>
                      <a:endParaRPr sz="1400" b="1" u="none" strike="noStrike" cap="none">
                        <a:solidFill>
                          <a:schemeClr val="dk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strike="noStrike" cap="non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necessary parts of an explanation that contribute to its </a:t>
                      </a:r>
                      <a:r>
                        <a:rPr lang="en" sz="1000" i="1" u="none" strike="noStrike" cap="non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completeness</a:t>
                      </a:r>
                      <a:endParaRPr sz="1400" b="1" u="none" strike="noStrike" cap="none">
                        <a:solidFill>
                          <a:schemeClr val="dk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1" u="none" strike="noStrike" cap="non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Dimensions</a:t>
                      </a:r>
                      <a:endParaRPr sz="1400" b="1" u="none" strike="noStrike" cap="none">
                        <a:solidFill>
                          <a:schemeClr val="dk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  <a:p>
                      <a:pPr marL="45720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000"/>
                        <a:buFont typeface="Arial"/>
                        <a:buNone/>
                      </a:pPr>
                      <a:r>
                        <a:rPr lang="en" sz="1000" u="none" strike="noStrike" cap="non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necessary linguistic or content feature of an explanation that contributes to its </a:t>
                      </a:r>
                      <a:r>
                        <a:rPr lang="en" sz="1000" i="1" u="none" strike="noStrike" cap="non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quality</a:t>
                      </a:r>
                      <a:endParaRPr sz="1000" u="none" strike="noStrike" cap="none">
                        <a:solidFill>
                          <a:schemeClr val="dk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65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1" u="none" strike="noStrike" cap="non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Language</a:t>
                      </a:r>
                      <a:endParaRPr sz="1400" b="1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1" u="none" strike="noStrike" cap="non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Content</a:t>
                      </a:r>
                      <a:endParaRPr sz="1400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897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1" u="none" strike="noStrike" cap="none">
                        <a:solidFill>
                          <a:srgbClr val="FF0000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400" b="0" u="none" strike="noStrike" cap="none" dirty="0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1.a) Action</a:t>
                      </a:r>
                      <a:endParaRPr sz="1400" b="0" u="none" strike="noStrike" cap="none" dirty="0">
                        <a:solidFill>
                          <a:schemeClr val="dk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400" b="0" u="none" strike="noStrike" cap="none" dirty="0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1.b) Reason</a:t>
                      </a:r>
                      <a:endParaRPr sz="1400" b="0" u="none" strike="noStrike" cap="none" dirty="0">
                        <a:solidFill>
                          <a:schemeClr val="dk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0" u="none" strike="noStrike" cap="non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Grammaticality</a:t>
                      </a:r>
                      <a:endParaRPr sz="1400" b="0" u="none" strike="noStrike" cap="none">
                        <a:solidFill>
                          <a:schemeClr val="dk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0" u="none" strike="noStrike" cap="non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Word Choice</a:t>
                      </a:r>
                      <a:endParaRPr sz="1400" b="0" u="none" strike="noStrike" cap="none">
                        <a:solidFill>
                          <a:schemeClr val="dk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0" u="none" strike="noStrike" cap="non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Cohesion</a:t>
                      </a:r>
                      <a:endParaRPr sz="1400" b="0" u="none" strike="noStrike" cap="none">
                        <a:solidFill>
                          <a:schemeClr val="dk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0" u="none" strike="noStrike" cap="non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Conciseness</a:t>
                      </a:r>
                      <a:endParaRPr sz="1400" b="0" u="none" strike="noStrike" cap="none">
                        <a:solidFill>
                          <a:schemeClr val="dk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0" u="none" strike="noStrike" cap="non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Appropriateness</a:t>
                      </a:r>
                      <a:endParaRPr sz="1400" b="0" u="none" strike="noStrike" cap="none">
                        <a:solidFill>
                          <a:schemeClr val="dk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0" u="none" strike="noStrike" cap="non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Coherence</a:t>
                      </a:r>
                      <a:endParaRPr sz="1400" b="0" u="none" strike="noStrike" cap="none">
                        <a:solidFill>
                          <a:schemeClr val="dk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31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1" u="none" strike="noStrike" cap="none">
                        <a:solidFill>
                          <a:srgbClr val="FF0000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400" b="0" u="none" strike="noStrike" cap="non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2.a) Evidence</a:t>
                      </a:r>
                      <a:endParaRPr sz="1400" u="none" strike="noStrike" cap="none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1" u="none" strike="noStrike" cap="none">
                        <a:solidFill>
                          <a:srgbClr val="9900FF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1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0" u="none" strike="noStrike" cap="non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Plausibility</a:t>
                      </a:r>
                      <a:endParaRPr sz="1400" b="0" u="none" strike="noStrike" cap="none">
                        <a:solidFill>
                          <a:schemeClr val="dk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6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1" u="none" strike="noStrike" cap="none">
                        <a:solidFill>
                          <a:srgbClr val="FF0000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400" b="0" u="none" strike="noStrike" cap="non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3.a) Affective appeal(s) and Qualifier(s)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1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0" u="none" strike="noStrike" cap="none" dirty="0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Stance Clarity</a:t>
                      </a:r>
                      <a:endParaRPr sz="1400" b="0" u="none" strike="noStrike" cap="none" dirty="0">
                        <a:solidFill>
                          <a:schemeClr val="dk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235" name="Google Shape;235;p11" descr="A black text on a white background&#10;&#10;AI-generated content may be incorrect."/>
          <p:cNvPicPr preferRelativeResize="0"/>
          <p:nvPr/>
        </p:nvPicPr>
        <p:blipFill rotWithShape="1">
          <a:blip r:embed="rId4">
            <a:alphaModFix/>
          </a:blip>
          <a:srcRect t="-1" r="6017" b="-3357"/>
          <a:stretch/>
        </p:blipFill>
        <p:spPr>
          <a:xfrm>
            <a:off x="555090" y="3261571"/>
            <a:ext cx="1963896" cy="35694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11" descr="A black text on a white background&#10;&#10;AI-generated content may be incorrect.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9854" y="4120470"/>
            <a:ext cx="1963896" cy="363264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11" descr="A black text on a white background&#10;&#10;AI-generated content may be incorrect.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9854" y="4836750"/>
            <a:ext cx="1570418" cy="363264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11"/>
          <p:cNvSpPr/>
          <p:nvPr/>
        </p:nvSpPr>
        <p:spPr>
          <a:xfrm>
            <a:off x="8348100" y="6373475"/>
            <a:ext cx="484200" cy="372300"/>
          </a:xfrm>
          <a:prstGeom prst="roundRect">
            <a:avLst>
              <a:gd name="adj" fmla="val 16667"/>
            </a:avLst>
          </a:prstGeom>
          <a:solidFill>
            <a:srgbClr val="F116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 dirty="0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r>
              <a:rPr lang="en" dirty="0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sz="1400" b="0" i="0" u="none" strike="noStrike" cap="none" dirty="0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40" name="Google Shape;240;p11"/>
          <p:cNvSpPr txBox="1"/>
          <p:nvPr/>
        </p:nvSpPr>
        <p:spPr>
          <a:xfrm>
            <a:off x="4028273" y="3006959"/>
            <a:ext cx="43740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 dirty="0">
                <a:solidFill>
                  <a:srgbClr val="0000DC"/>
                </a:solidFill>
                <a:latin typeface="Cambria"/>
                <a:ea typeface="Cambria"/>
                <a:cs typeface="Cambria"/>
                <a:sym typeface="Cambria"/>
              </a:rPr>
              <a:t>✅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11"/>
          <p:cNvSpPr txBox="1"/>
          <p:nvPr/>
        </p:nvSpPr>
        <p:spPr>
          <a:xfrm>
            <a:off x="4042446" y="3233790"/>
            <a:ext cx="43740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 dirty="0">
                <a:solidFill>
                  <a:srgbClr val="0000DC"/>
                </a:solidFill>
                <a:latin typeface="Cambria"/>
                <a:ea typeface="Cambria"/>
                <a:cs typeface="Cambria"/>
                <a:sym typeface="Cambria"/>
              </a:rPr>
              <a:t>✅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11"/>
          <p:cNvSpPr/>
          <p:nvPr/>
        </p:nvSpPr>
        <p:spPr>
          <a:xfrm>
            <a:off x="2609288" y="2923953"/>
            <a:ext cx="2047772" cy="988828"/>
          </a:xfrm>
          <a:prstGeom prst="rect">
            <a:avLst/>
          </a:prstGeom>
          <a:noFill/>
          <a:ln w="38100" cap="flat" cmpd="sng">
            <a:solidFill>
              <a:srgbClr val="0000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11"/>
          <p:cNvSpPr txBox="1"/>
          <p:nvPr/>
        </p:nvSpPr>
        <p:spPr>
          <a:xfrm>
            <a:off x="3540362" y="5692353"/>
            <a:ext cx="2188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1" i="0" u="none" strike="noStrike" cap="none" dirty="0">
                <a:solidFill>
                  <a:srgbClr val="0000DC"/>
                </a:solidFill>
                <a:latin typeface="Cambria"/>
                <a:ea typeface="Cambria"/>
                <a:cs typeface="Cambria"/>
                <a:sym typeface="Cambria"/>
              </a:rPr>
              <a:t>A commentary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150;g362a475d704_0_82">
            <a:extLst>
              <a:ext uri="{FF2B5EF4-FFF2-40B4-BE49-F238E27FC236}">
                <a16:creationId xmlns:a16="http://schemas.microsoft.com/office/drawing/2014/main" id="{8CF0C113-6054-FCFE-5D59-4D2CA62C19D7}"/>
              </a:ext>
            </a:extLst>
          </p:cNvPr>
          <p:cNvSpPr txBox="1"/>
          <p:nvPr/>
        </p:nvSpPr>
        <p:spPr>
          <a:xfrm>
            <a:off x="434550" y="30431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" sz="3000" b="1" i="0" u="none" strike="noStrike" cap="none" dirty="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Methodology: Step 1</a:t>
            </a:r>
            <a:endParaRPr sz="2100" b="1" i="0" u="none" strike="noStrike" cap="none" dirty="0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9" name="Google Shape;151;g362a475d704_0_82">
            <a:extLst>
              <a:ext uri="{FF2B5EF4-FFF2-40B4-BE49-F238E27FC236}">
                <a16:creationId xmlns:a16="http://schemas.microsoft.com/office/drawing/2014/main" id="{9F082F62-5EB5-D236-091A-50F9A756C2B3}"/>
              </a:ext>
            </a:extLst>
          </p:cNvPr>
          <p:cNvSpPr/>
          <p:nvPr/>
        </p:nvSpPr>
        <p:spPr>
          <a:xfrm>
            <a:off x="240125" y="304325"/>
            <a:ext cx="147600" cy="614400"/>
          </a:xfrm>
          <a:prstGeom prst="roundRect">
            <a:avLst>
              <a:gd name="adj" fmla="val 16667"/>
            </a:avLst>
          </a:prstGeom>
          <a:solidFill>
            <a:srgbClr val="F116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rgbClr val="FF0000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0" grpId="0"/>
      <p:bldP spid="241" grpId="0"/>
      <p:bldP spid="24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0" name="Google Shape;250;p12"/>
          <p:cNvGraphicFramePr/>
          <p:nvPr/>
        </p:nvGraphicFramePr>
        <p:xfrm>
          <a:off x="680156" y="1588853"/>
          <a:ext cx="7908750" cy="3680295"/>
        </p:xfrm>
        <a:graphic>
          <a:graphicData uri="http://schemas.openxmlformats.org/drawingml/2006/table">
            <a:tbl>
              <a:tblPr>
                <a:noFill/>
                <a:tableStyleId>{0BA219C8-81FF-40D2-9AAD-F39E110716C0}</a:tableStyleId>
              </a:tblPr>
              <a:tblGrid>
                <a:gridCol w="190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46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8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95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71425"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1" u="none" strike="noStrike" cap="non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Type of explanation</a:t>
                      </a:r>
                      <a:endParaRPr sz="1400" b="1" u="none" strike="noStrike" cap="none">
                        <a:solidFill>
                          <a:schemeClr val="dk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1" u="none" strike="noStrike" cap="none">
                        <a:solidFill>
                          <a:schemeClr val="dk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1" u="none" strike="noStrike" cap="non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Components</a:t>
                      </a:r>
                      <a:endParaRPr sz="1400" b="1" u="none" strike="noStrike" cap="none">
                        <a:solidFill>
                          <a:schemeClr val="dk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strike="noStrike" cap="non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necessary parts of an explanation that contribute to its </a:t>
                      </a:r>
                      <a:r>
                        <a:rPr lang="en" sz="1000" i="1" u="none" strike="noStrike" cap="non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completeness</a:t>
                      </a:r>
                      <a:endParaRPr sz="1400" b="1" u="none" strike="noStrike" cap="none">
                        <a:solidFill>
                          <a:schemeClr val="dk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1" u="none" strike="noStrike" cap="non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Dimensions</a:t>
                      </a:r>
                      <a:endParaRPr sz="1400" b="1" u="none" strike="noStrike" cap="none">
                        <a:solidFill>
                          <a:schemeClr val="dk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  <a:p>
                      <a:pPr marL="45720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000"/>
                        <a:buFont typeface="Arial"/>
                        <a:buNone/>
                      </a:pPr>
                      <a:r>
                        <a:rPr lang="en" sz="1000" u="none" strike="noStrike" cap="non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necessary linguistic or content feature of an explanation that contributes to its </a:t>
                      </a:r>
                      <a:r>
                        <a:rPr lang="en" sz="1000" i="1" u="none" strike="noStrike" cap="non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quality</a:t>
                      </a:r>
                      <a:endParaRPr sz="1000" u="none" strike="noStrike" cap="none">
                        <a:solidFill>
                          <a:schemeClr val="dk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65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1" u="none" strike="noStrike" cap="non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Language</a:t>
                      </a:r>
                      <a:endParaRPr sz="1400" b="1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1" u="none" strike="noStrike" cap="non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Content</a:t>
                      </a:r>
                      <a:endParaRPr sz="1400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897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1" u="none" strike="noStrike" cap="none">
                        <a:solidFill>
                          <a:srgbClr val="FF0000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400" b="0" u="none" strike="noStrike" cap="non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1.a) Action</a:t>
                      </a:r>
                      <a:endParaRPr sz="1400" b="0" u="none" strike="noStrike" cap="none">
                        <a:solidFill>
                          <a:schemeClr val="dk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400" b="0" u="none" strike="noStrike" cap="non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1.b) Reason</a:t>
                      </a:r>
                      <a:endParaRPr sz="1400" b="0" u="none" strike="noStrike" cap="none">
                        <a:solidFill>
                          <a:schemeClr val="dk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0" u="none" strike="noStrike" cap="non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Grammaticality</a:t>
                      </a:r>
                      <a:endParaRPr sz="1400" b="0" u="none" strike="noStrike" cap="none">
                        <a:solidFill>
                          <a:schemeClr val="dk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0" u="none" strike="noStrike" cap="non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Word Choice</a:t>
                      </a:r>
                      <a:endParaRPr sz="1400" b="0" u="none" strike="noStrike" cap="none">
                        <a:solidFill>
                          <a:schemeClr val="dk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0" u="none" strike="noStrike" cap="non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Cohesion</a:t>
                      </a:r>
                      <a:endParaRPr sz="1400" b="0" u="none" strike="noStrike" cap="none">
                        <a:solidFill>
                          <a:schemeClr val="dk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0" u="none" strike="noStrike" cap="non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Conciseness</a:t>
                      </a:r>
                      <a:endParaRPr sz="1400" b="0" u="none" strike="noStrike" cap="none">
                        <a:solidFill>
                          <a:schemeClr val="dk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0" u="none" strike="noStrike" cap="non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Appropriateness</a:t>
                      </a:r>
                      <a:endParaRPr sz="1400" b="0" u="none" strike="noStrike" cap="none">
                        <a:solidFill>
                          <a:schemeClr val="dk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0" u="none" strike="noStrike" cap="non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Coherence</a:t>
                      </a:r>
                      <a:endParaRPr sz="1400" b="0" u="none" strike="noStrike" cap="none">
                        <a:solidFill>
                          <a:schemeClr val="dk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31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1" u="none" strike="noStrike" cap="none">
                        <a:solidFill>
                          <a:srgbClr val="FF0000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400" b="0" u="none" strike="noStrike" cap="non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2.a) Evidence</a:t>
                      </a:r>
                      <a:endParaRPr sz="1400" u="none" strike="noStrike" cap="none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1" u="none" strike="noStrike" cap="none">
                        <a:solidFill>
                          <a:srgbClr val="9900FF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1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0" u="none" strike="noStrike" cap="non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Plausibility</a:t>
                      </a:r>
                      <a:endParaRPr sz="1400" b="0" u="none" strike="noStrike" cap="none">
                        <a:solidFill>
                          <a:schemeClr val="dk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6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1" u="none" strike="noStrike" cap="none">
                        <a:solidFill>
                          <a:srgbClr val="FF0000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400" b="0" u="none" strike="noStrike" cap="non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3.a) Affective appeal(s) and Qualifier(s)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1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0" u="none" strike="noStrike" cap="non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Stance Clarity</a:t>
                      </a:r>
                      <a:endParaRPr sz="1400" b="0" u="none" strike="noStrike" cap="none">
                        <a:solidFill>
                          <a:schemeClr val="dk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251" name="Google Shape;251;p12" descr="A black text on a white background&#10;&#10;AI-generated content may be incorrect."/>
          <p:cNvPicPr preferRelativeResize="0"/>
          <p:nvPr/>
        </p:nvPicPr>
        <p:blipFill rotWithShape="1">
          <a:blip r:embed="rId4">
            <a:alphaModFix/>
          </a:blip>
          <a:srcRect t="-1" r="6017" b="-3357"/>
          <a:stretch/>
        </p:blipFill>
        <p:spPr>
          <a:xfrm>
            <a:off x="555090" y="3261571"/>
            <a:ext cx="1963896" cy="35694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12" descr="A black text on a white background&#10;&#10;AI-generated content may be incorrect.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9854" y="4120470"/>
            <a:ext cx="1963896" cy="363264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12" descr="A black text on a white background&#10;&#10;AI-generated content may be incorrect.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9854" y="4836750"/>
            <a:ext cx="1570418" cy="363264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12"/>
          <p:cNvSpPr/>
          <p:nvPr/>
        </p:nvSpPr>
        <p:spPr>
          <a:xfrm>
            <a:off x="8348100" y="6373475"/>
            <a:ext cx="484200" cy="372300"/>
          </a:xfrm>
          <a:prstGeom prst="roundRect">
            <a:avLst>
              <a:gd name="adj" fmla="val 16667"/>
            </a:avLst>
          </a:prstGeom>
          <a:solidFill>
            <a:srgbClr val="F116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 dirty="0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13</a:t>
            </a:r>
            <a:endParaRPr sz="1400" b="0" i="0" u="none" strike="noStrike" cap="none" dirty="0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56" name="Google Shape;256;p12"/>
          <p:cNvSpPr txBox="1"/>
          <p:nvPr/>
        </p:nvSpPr>
        <p:spPr>
          <a:xfrm>
            <a:off x="4028273" y="3006959"/>
            <a:ext cx="43740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DC"/>
                </a:solidFill>
                <a:latin typeface="Cambria"/>
                <a:ea typeface="Cambria"/>
                <a:cs typeface="Cambria"/>
                <a:sym typeface="Cambria"/>
              </a:rPr>
              <a:t>✅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12"/>
          <p:cNvSpPr txBox="1"/>
          <p:nvPr/>
        </p:nvSpPr>
        <p:spPr>
          <a:xfrm>
            <a:off x="4042446" y="3233790"/>
            <a:ext cx="43740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DC"/>
                </a:solidFill>
                <a:latin typeface="Cambria"/>
                <a:ea typeface="Cambria"/>
                <a:cs typeface="Cambria"/>
                <a:sym typeface="Cambria"/>
              </a:rPr>
              <a:t>✅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12"/>
          <p:cNvSpPr txBox="1"/>
          <p:nvPr/>
        </p:nvSpPr>
        <p:spPr>
          <a:xfrm>
            <a:off x="6211498" y="3021131"/>
            <a:ext cx="43740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 dirty="0">
                <a:solidFill>
                  <a:srgbClr val="0000DC"/>
                </a:solidFill>
                <a:latin typeface="Cambria"/>
                <a:ea typeface="Cambria"/>
                <a:cs typeface="Cambria"/>
                <a:sym typeface="Cambria"/>
              </a:rPr>
              <a:t>✅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12"/>
          <p:cNvSpPr txBox="1"/>
          <p:nvPr/>
        </p:nvSpPr>
        <p:spPr>
          <a:xfrm>
            <a:off x="6215040" y="3216063"/>
            <a:ext cx="43740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 dirty="0">
                <a:solidFill>
                  <a:srgbClr val="0000DC"/>
                </a:solidFill>
                <a:latin typeface="Cambria"/>
                <a:ea typeface="Cambria"/>
                <a:cs typeface="Cambria"/>
                <a:sym typeface="Cambria"/>
              </a:rPr>
              <a:t>✅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12"/>
          <p:cNvSpPr txBox="1"/>
          <p:nvPr/>
        </p:nvSpPr>
        <p:spPr>
          <a:xfrm>
            <a:off x="6225672" y="3418084"/>
            <a:ext cx="43740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DC"/>
                </a:solidFill>
                <a:latin typeface="Cambria"/>
                <a:ea typeface="Cambria"/>
                <a:cs typeface="Cambria"/>
                <a:sym typeface="Cambria"/>
              </a:rPr>
              <a:t>✅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12"/>
          <p:cNvSpPr txBox="1"/>
          <p:nvPr/>
        </p:nvSpPr>
        <p:spPr>
          <a:xfrm>
            <a:off x="8245870" y="3024674"/>
            <a:ext cx="43740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DC"/>
                </a:solidFill>
                <a:latin typeface="Cambria"/>
                <a:ea typeface="Cambria"/>
                <a:cs typeface="Cambria"/>
                <a:sym typeface="Cambria"/>
              </a:rPr>
              <a:t>✅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12"/>
          <p:cNvSpPr txBox="1"/>
          <p:nvPr/>
        </p:nvSpPr>
        <p:spPr>
          <a:xfrm>
            <a:off x="8249412" y="3219606"/>
            <a:ext cx="43740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DC"/>
                </a:solidFill>
                <a:latin typeface="Cambria"/>
                <a:ea typeface="Cambria"/>
                <a:cs typeface="Cambria"/>
                <a:sym typeface="Cambria"/>
              </a:rPr>
              <a:t>✅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12"/>
          <p:cNvSpPr txBox="1"/>
          <p:nvPr/>
        </p:nvSpPr>
        <p:spPr>
          <a:xfrm>
            <a:off x="8260044" y="3421627"/>
            <a:ext cx="43740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DC"/>
                </a:solidFill>
                <a:latin typeface="Cambria"/>
                <a:ea typeface="Cambria"/>
                <a:cs typeface="Cambria"/>
                <a:sym typeface="Cambria"/>
              </a:rPr>
              <a:t>✅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12"/>
          <p:cNvSpPr txBox="1"/>
          <p:nvPr/>
        </p:nvSpPr>
        <p:spPr>
          <a:xfrm>
            <a:off x="3540362" y="5692353"/>
            <a:ext cx="218834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1" i="0" u="none" strike="noStrike" cap="none">
                <a:solidFill>
                  <a:srgbClr val="0000DC"/>
                </a:solidFill>
                <a:latin typeface="Cambria"/>
                <a:ea typeface="Cambria"/>
                <a:cs typeface="Cambria"/>
                <a:sym typeface="Cambria"/>
              </a:rPr>
              <a:t>Good commentary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12"/>
          <p:cNvSpPr/>
          <p:nvPr/>
        </p:nvSpPr>
        <p:spPr>
          <a:xfrm>
            <a:off x="2609288" y="2923953"/>
            <a:ext cx="5979622" cy="988828"/>
          </a:xfrm>
          <a:prstGeom prst="rect">
            <a:avLst/>
          </a:prstGeom>
          <a:noFill/>
          <a:ln w="38100" cap="flat" cmpd="sng">
            <a:solidFill>
              <a:srgbClr val="0000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12"/>
          <p:cNvSpPr/>
          <p:nvPr/>
        </p:nvSpPr>
        <p:spPr>
          <a:xfrm>
            <a:off x="202025" y="3147232"/>
            <a:ext cx="300000" cy="7635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1160A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50;g362a475d704_0_82">
            <a:extLst>
              <a:ext uri="{FF2B5EF4-FFF2-40B4-BE49-F238E27FC236}">
                <a16:creationId xmlns:a16="http://schemas.microsoft.com/office/drawing/2014/main" id="{312B8F96-7671-DAA4-CB21-84E3D23C26DC}"/>
              </a:ext>
            </a:extLst>
          </p:cNvPr>
          <p:cNvSpPr txBox="1"/>
          <p:nvPr/>
        </p:nvSpPr>
        <p:spPr>
          <a:xfrm>
            <a:off x="434550" y="30431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" sz="3000" b="1" i="0" u="none" strike="noStrike" cap="none" dirty="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Methodology: Step 1</a:t>
            </a:r>
            <a:endParaRPr sz="2100" b="1" i="0" u="none" strike="noStrike" cap="none" dirty="0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6" name="Google Shape;151;g362a475d704_0_82">
            <a:extLst>
              <a:ext uri="{FF2B5EF4-FFF2-40B4-BE49-F238E27FC236}">
                <a16:creationId xmlns:a16="http://schemas.microsoft.com/office/drawing/2014/main" id="{9B55D5EF-1C40-A3B7-927A-6763916AFFF8}"/>
              </a:ext>
            </a:extLst>
          </p:cNvPr>
          <p:cNvSpPr/>
          <p:nvPr/>
        </p:nvSpPr>
        <p:spPr>
          <a:xfrm>
            <a:off x="240125" y="304325"/>
            <a:ext cx="147600" cy="614400"/>
          </a:xfrm>
          <a:prstGeom prst="roundRect">
            <a:avLst>
              <a:gd name="adj" fmla="val 16667"/>
            </a:avLst>
          </a:prstGeom>
          <a:solidFill>
            <a:srgbClr val="F116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rgbClr val="FF0000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4" grpId="0"/>
      <p:bldP spid="26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72" name="Google Shape;272;p13"/>
          <p:cNvGraphicFramePr/>
          <p:nvPr/>
        </p:nvGraphicFramePr>
        <p:xfrm>
          <a:off x="680156" y="1588853"/>
          <a:ext cx="7908750" cy="3680295"/>
        </p:xfrm>
        <a:graphic>
          <a:graphicData uri="http://schemas.openxmlformats.org/drawingml/2006/table">
            <a:tbl>
              <a:tblPr>
                <a:noFill/>
                <a:tableStyleId>{0BA219C8-81FF-40D2-9AAD-F39E110716C0}</a:tableStyleId>
              </a:tblPr>
              <a:tblGrid>
                <a:gridCol w="190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46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8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95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71425"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1" u="none" strike="noStrike" cap="non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Type of explanation</a:t>
                      </a:r>
                      <a:endParaRPr sz="1400" b="1" u="none" strike="noStrike" cap="none">
                        <a:solidFill>
                          <a:schemeClr val="dk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1" u="none" strike="noStrike" cap="none">
                        <a:solidFill>
                          <a:schemeClr val="dk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1" u="none" strike="noStrike" cap="non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Components</a:t>
                      </a:r>
                      <a:endParaRPr sz="1400" b="1" u="none" strike="noStrike" cap="none">
                        <a:solidFill>
                          <a:schemeClr val="dk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strike="noStrike" cap="non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necessary parts of an explanation that contribute to its </a:t>
                      </a:r>
                      <a:r>
                        <a:rPr lang="en" sz="1000" i="1" u="none" strike="noStrike" cap="non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completeness</a:t>
                      </a:r>
                      <a:endParaRPr sz="1400" b="1" u="none" strike="noStrike" cap="none">
                        <a:solidFill>
                          <a:schemeClr val="dk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1" u="none" strike="noStrike" cap="non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Dimensions</a:t>
                      </a:r>
                      <a:endParaRPr sz="1400" b="1" u="none" strike="noStrike" cap="none">
                        <a:solidFill>
                          <a:schemeClr val="dk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  <a:p>
                      <a:pPr marL="45720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000"/>
                        <a:buFont typeface="Arial"/>
                        <a:buNone/>
                      </a:pPr>
                      <a:r>
                        <a:rPr lang="en" sz="1000" u="none" strike="noStrike" cap="non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necessary linguistic or content feature of an explanation that contributes to its </a:t>
                      </a:r>
                      <a:r>
                        <a:rPr lang="en" sz="1000" i="1" u="none" strike="noStrike" cap="non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quality</a:t>
                      </a:r>
                      <a:endParaRPr sz="1000" u="none" strike="noStrike" cap="none">
                        <a:solidFill>
                          <a:schemeClr val="dk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65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1" u="none" strike="noStrike" cap="non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Language</a:t>
                      </a:r>
                      <a:endParaRPr sz="1400" b="1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1" u="none" strike="noStrike" cap="non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Content</a:t>
                      </a:r>
                      <a:endParaRPr sz="1400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897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1" u="none" strike="noStrike" cap="none">
                        <a:solidFill>
                          <a:srgbClr val="FF0000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400" b="0" u="none" strike="noStrike" cap="non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1.a) Action</a:t>
                      </a:r>
                      <a:endParaRPr sz="1400" b="0" u="none" strike="noStrike" cap="none">
                        <a:solidFill>
                          <a:schemeClr val="dk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400" b="0" u="none" strike="noStrike" cap="non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1.b) Reason</a:t>
                      </a:r>
                      <a:endParaRPr sz="1400" b="0" u="none" strike="noStrike" cap="none">
                        <a:solidFill>
                          <a:schemeClr val="dk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0" u="none" strike="noStrike" cap="non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Grammaticality</a:t>
                      </a:r>
                      <a:endParaRPr sz="1400" b="0" u="none" strike="noStrike" cap="none">
                        <a:solidFill>
                          <a:schemeClr val="dk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0" u="none" strike="noStrike" cap="non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Word Choice</a:t>
                      </a:r>
                      <a:endParaRPr sz="1400" b="0" u="none" strike="noStrike" cap="none">
                        <a:solidFill>
                          <a:schemeClr val="dk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0" u="none" strike="noStrike" cap="non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Cohesion</a:t>
                      </a:r>
                      <a:endParaRPr sz="1400" b="0" u="none" strike="noStrike" cap="none">
                        <a:solidFill>
                          <a:schemeClr val="dk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0" u="none" strike="noStrike" cap="non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Conciseness</a:t>
                      </a:r>
                      <a:endParaRPr sz="1400" b="0" u="none" strike="noStrike" cap="none">
                        <a:solidFill>
                          <a:schemeClr val="dk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0" u="none" strike="noStrike" cap="non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Appropriateness</a:t>
                      </a:r>
                      <a:endParaRPr sz="1400" b="0" u="none" strike="noStrike" cap="none">
                        <a:solidFill>
                          <a:schemeClr val="dk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0" u="none" strike="noStrike" cap="non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Coherence</a:t>
                      </a:r>
                      <a:endParaRPr sz="1400" b="0" u="none" strike="noStrike" cap="none">
                        <a:solidFill>
                          <a:schemeClr val="dk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31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1" u="none" strike="noStrike" cap="none">
                        <a:solidFill>
                          <a:srgbClr val="FF0000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400" b="0" u="none" strike="noStrike" cap="non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2.a) Evidence</a:t>
                      </a:r>
                      <a:endParaRPr sz="1400" u="none" strike="noStrike" cap="none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1" u="none" strike="noStrike" cap="none">
                        <a:solidFill>
                          <a:srgbClr val="9900FF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1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0" u="none" strike="noStrike" cap="non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Plausibility</a:t>
                      </a:r>
                      <a:endParaRPr sz="1400" b="0" u="none" strike="noStrike" cap="none">
                        <a:solidFill>
                          <a:schemeClr val="dk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6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1" u="none" strike="noStrike" cap="none">
                        <a:solidFill>
                          <a:srgbClr val="FF0000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400" b="0" u="none" strike="noStrike" cap="non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3.a) Affective appeal(s) and Qualifier(s)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1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0" u="none" strike="noStrike" cap="non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Stance Clarity</a:t>
                      </a:r>
                      <a:endParaRPr sz="1400" b="0" u="none" strike="noStrike" cap="none">
                        <a:solidFill>
                          <a:schemeClr val="dk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273" name="Google Shape;273;p13" descr="A black text on a white background&#10;&#10;AI-generated content may be incorrect."/>
          <p:cNvPicPr preferRelativeResize="0"/>
          <p:nvPr/>
        </p:nvPicPr>
        <p:blipFill rotWithShape="1">
          <a:blip r:embed="rId4">
            <a:alphaModFix/>
          </a:blip>
          <a:srcRect t="-1" r="6017" b="-3357"/>
          <a:stretch/>
        </p:blipFill>
        <p:spPr>
          <a:xfrm>
            <a:off x="555090" y="3261571"/>
            <a:ext cx="1963896" cy="356946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13" descr="A black text on a white background&#10;&#10;AI-generated content may be incorrect.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9854" y="4120470"/>
            <a:ext cx="1963896" cy="363264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13" descr="A black text on a white background&#10;&#10;AI-generated content may be incorrect.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9854" y="4836750"/>
            <a:ext cx="1570418" cy="363264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13"/>
          <p:cNvSpPr/>
          <p:nvPr/>
        </p:nvSpPr>
        <p:spPr>
          <a:xfrm>
            <a:off x="8348100" y="6373475"/>
            <a:ext cx="484200" cy="372300"/>
          </a:xfrm>
          <a:prstGeom prst="roundRect">
            <a:avLst>
              <a:gd name="adj" fmla="val 16667"/>
            </a:avLst>
          </a:prstGeom>
          <a:solidFill>
            <a:srgbClr val="F116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 dirty="0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14</a:t>
            </a:r>
            <a:endParaRPr sz="1400" b="0" i="0" u="none" strike="noStrike" cap="none" dirty="0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78" name="Google Shape;278;p13"/>
          <p:cNvSpPr txBox="1"/>
          <p:nvPr/>
        </p:nvSpPr>
        <p:spPr>
          <a:xfrm>
            <a:off x="4028273" y="3006959"/>
            <a:ext cx="43740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DC"/>
                </a:solidFill>
                <a:latin typeface="Cambria"/>
                <a:ea typeface="Cambria"/>
                <a:cs typeface="Cambria"/>
                <a:sym typeface="Cambria"/>
              </a:rPr>
              <a:t>✅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13"/>
          <p:cNvSpPr txBox="1"/>
          <p:nvPr/>
        </p:nvSpPr>
        <p:spPr>
          <a:xfrm>
            <a:off x="4042446" y="3233790"/>
            <a:ext cx="43740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DC"/>
                </a:solidFill>
                <a:latin typeface="Cambria"/>
                <a:ea typeface="Cambria"/>
                <a:cs typeface="Cambria"/>
                <a:sym typeface="Cambria"/>
              </a:rPr>
              <a:t>✅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13"/>
          <p:cNvSpPr txBox="1"/>
          <p:nvPr/>
        </p:nvSpPr>
        <p:spPr>
          <a:xfrm>
            <a:off x="6211498" y="3021131"/>
            <a:ext cx="43740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DC"/>
                </a:solidFill>
                <a:latin typeface="Cambria"/>
                <a:ea typeface="Cambria"/>
                <a:cs typeface="Cambria"/>
                <a:sym typeface="Cambria"/>
              </a:rPr>
              <a:t>✅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13"/>
          <p:cNvSpPr txBox="1"/>
          <p:nvPr/>
        </p:nvSpPr>
        <p:spPr>
          <a:xfrm>
            <a:off x="6215040" y="3216063"/>
            <a:ext cx="43740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DC"/>
                </a:solidFill>
                <a:latin typeface="Cambria"/>
                <a:ea typeface="Cambria"/>
                <a:cs typeface="Cambria"/>
                <a:sym typeface="Cambria"/>
              </a:rPr>
              <a:t>✅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13"/>
          <p:cNvSpPr txBox="1"/>
          <p:nvPr/>
        </p:nvSpPr>
        <p:spPr>
          <a:xfrm>
            <a:off x="6225672" y="3418084"/>
            <a:ext cx="43740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DC"/>
                </a:solidFill>
                <a:latin typeface="Cambria"/>
                <a:ea typeface="Cambria"/>
                <a:cs typeface="Cambria"/>
                <a:sym typeface="Cambria"/>
              </a:rPr>
              <a:t>✅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13"/>
          <p:cNvSpPr txBox="1"/>
          <p:nvPr/>
        </p:nvSpPr>
        <p:spPr>
          <a:xfrm>
            <a:off x="8245870" y="3024674"/>
            <a:ext cx="43740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DC"/>
                </a:solidFill>
                <a:latin typeface="Cambria"/>
                <a:ea typeface="Cambria"/>
                <a:cs typeface="Cambria"/>
                <a:sym typeface="Cambria"/>
              </a:rPr>
              <a:t>✅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13"/>
          <p:cNvSpPr txBox="1"/>
          <p:nvPr/>
        </p:nvSpPr>
        <p:spPr>
          <a:xfrm>
            <a:off x="8249412" y="3219606"/>
            <a:ext cx="43740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DC"/>
                </a:solidFill>
                <a:latin typeface="Cambria"/>
                <a:ea typeface="Cambria"/>
                <a:cs typeface="Cambria"/>
                <a:sym typeface="Cambria"/>
              </a:rPr>
              <a:t>✅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13"/>
          <p:cNvSpPr txBox="1"/>
          <p:nvPr/>
        </p:nvSpPr>
        <p:spPr>
          <a:xfrm>
            <a:off x="8260044" y="3421627"/>
            <a:ext cx="43740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DC"/>
                </a:solidFill>
                <a:latin typeface="Cambria"/>
                <a:ea typeface="Cambria"/>
                <a:cs typeface="Cambria"/>
                <a:sym typeface="Cambria"/>
              </a:rPr>
              <a:t>✅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13"/>
          <p:cNvSpPr txBox="1"/>
          <p:nvPr/>
        </p:nvSpPr>
        <p:spPr>
          <a:xfrm>
            <a:off x="4056617" y="4002883"/>
            <a:ext cx="43740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DC"/>
                </a:solidFill>
                <a:latin typeface="Cambria"/>
                <a:ea typeface="Cambria"/>
                <a:cs typeface="Cambria"/>
                <a:sym typeface="Cambria"/>
              </a:rPr>
              <a:t>✅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13"/>
          <p:cNvSpPr txBox="1"/>
          <p:nvPr/>
        </p:nvSpPr>
        <p:spPr>
          <a:xfrm>
            <a:off x="8245869" y="3992253"/>
            <a:ext cx="43740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DC"/>
                </a:solidFill>
                <a:latin typeface="Cambria"/>
                <a:ea typeface="Cambria"/>
                <a:cs typeface="Cambria"/>
                <a:sym typeface="Cambria"/>
              </a:rPr>
              <a:t>✅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13"/>
          <p:cNvSpPr txBox="1"/>
          <p:nvPr/>
        </p:nvSpPr>
        <p:spPr>
          <a:xfrm>
            <a:off x="3540362" y="5692353"/>
            <a:ext cx="218834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1" i="0" u="none" strike="noStrike" cap="none" dirty="0">
                <a:solidFill>
                  <a:srgbClr val="FFC000"/>
                </a:solidFill>
                <a:latin typeface="Cambria"/>
                <a:ea typeface="Cambria"/>
                <a:cs typeface="Cambria"/>
                <a:sym typeface="Cambria"/>
              </a:rPr>
              <a:t>A justification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13"/>
          <p:cNvSpPr/>
          <p:nvPr/>
        </p:nvSpPr>
        <p:spPr>
          <a:xfrm>
            <a:off x="2609292" y="3927875"/>
            <a:ext cx="2025300" cy="700200"/>
          </a:xfrm>
          <a:prstGeom prst="rect">
            <a:avLst/>
          </a:prstGeom>
          <a:noFill/>
          <a:ln w="38100" cap="flat" cmpd="sng">
            <a:solidFill>
              <a:srgbClr val="FCDF0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50;g362a475d704_0_82">
            <a:extLst>
              <a:ext uri="{FF2B5EF4-FFF2-40B4-BE49-F238E27FC236}">
                <a16:creationId xmlns:a16="http://schemas.microsoft.com/office/drawing/2014/main" id="{45CE548D-E7B8-93F9-BBD4-A0B05434562B}"/>
              </a:ext>
            </a:extLst>
          </p:cNvPr>
          <p:cNvSpPr txBox="1"/>
          <p:nvPr/>
        </p:nvSpPr>
        <p:spPr>
          <a:xfrm>
            <a:off x="434550" y="30431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" sz="3000" b="1" i="0" u="none" strike="noStrike" cap="none" dirty="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Methodology: Step 1</a:t>
            </a:r>
            <a:endParaRPr sz="2100" b="1" i="0" u="none" strike="noStrike" cap="none" dirty="0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6" name="Google Shape;151;g362a475d704_0_82">
            <a:extLst>
              <a:ext uri="{FF2B5EF4-FFF2-40B4-BE49-F238E27FC236}">
                <a16:creationId xmlns:a16="http://schemas.microsoft.com/office/drawing/2014/main" id="{331DA9B6-B4D1-4593-219E-F0721E44C099}"/>
              </a:ext>
            </a:extLst>
          </p:cNvPr>
          <p:cNvSpPr/>
          <p:nvPr/>
        </p:nvSpPr>
        <p:spPr>
          <a:xfrm>
            <a:off x="240125" y="304325"/>
            <a:ext cx="147600" cy="614400"/>
          </a:xfrm>
          <a:prstGeom prst="roundRect">
            <a:avLst>
              <a:gd name="adj" fmla="val 16667"/>
            </a:avLst>
          </a:prstGeom>
          <a:solidFill>
            <a:srgbClr val="F116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rgbClr val="FF0000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6" name="Google Shape;296;g366c45a6477_0_40"/>
          <p:cNvGraphicFramePr/>
          <p:nvPr/>
        </p:nvGraphicFramePr>
        <p:xfrm>
          <a:off x="680156" y="1588853"/>
          <a:ext cx="7908750" cy="3680295"/>
        </p:xfrm>
        <a:graphic>
          <a:graphicData uri="http://schemas.openxmlformats.org/drawingml/2006/table">
            <a:tbl>
              <a:tblPr>
                <a:noFill/>
                <a:tableStyleId>{0BA219C8-81FF-40D2-9AAD-F39E110716C0}</a:tableStyleId>
              </a:tblPr>
              <a:tblGrid>
                <a:gridCol w="190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46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8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95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71425"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1" u="none" strike="noStrike" cap="non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Type of explanation</a:t>
                      </a:r>
                      <a:endParaRPr sz="1400" b="1" u="none" strike="noStrike" cap="none">
                        <a:solidFill>
                          <a:schemeClr val="dk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1" u="none" strike="noStrike" cap="none">
                        <a:solidFill>
                          <a:schemeClr val="dk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1" u="none" strike="noStrike" cap="non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Components</a:t>
                      </a:r>
                      <a:endParaRPr sz="1400" b="1" u="none" strike="noStrike" cap="none">
                        <a:solidFill>
                          <a:schemeClr val="dk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strike="noStrike" cap="non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necessary parts of an explanation that contribute to its </a:t>
                      </a:r>
                      <a:r>
                        <a:rPr lang="en" sz="1000" i="1" u="none" strike="noStrike" cap="non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completeness</a:t>
                      </a:r>
                      <a:endParaRPr sz="1400" b="1" u="none" strike="noStrike" cap="none">
                        <a:solidFill>
                          <a:schemeClr val="dk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1" u="none" strike="noStrike" cap="non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Dimensions</a:t>
                      </a:r>
                      <a:endParaRPr sz="1400" b="1" u="none" strike="noStrike" cap="none">
                        <a:solidFill>
                          <a:schemeClr val="dk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  <a:p>
                      <a:pPr marL="45720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000"/>
                        <a:buFont typeface="Arial"/>
                        <a:buNone/>
                      </a:pPr>
                      <a:r>
                        <a:rPr lang="en" sz="1000" u="none" strike="noStrike" cap="non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necessary linguistic or content feature of an explanation that contributes to its </a:t>
                      </a:r>
                      <a:r>
                        <a:rPr lang="en" sz="1000" i="1" u="none" strike="noStrike" cap="non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quality</a:t>
                      </a:r>
                      <a:endParaRPr sz="1000" u="none" strike="noStrike" cap="none">
                        <a:solidFill>
                          <a:schemeClr val="dk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65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1" u="none" strike="noStrike" cap="non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Language</a:t>
                      </a:r>
                      <a:endParaRPr sz="1400" b="1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1" u="none" strike="noStrike" cap="non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Content</a:t>
                      </a:r>
                      <a:endParaRPr sz="1400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897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1" u="none" strike="noStrike" cap="none">
                        <a:solidFill>
                          <a:srgbClr val="FF0000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400" b="0" u="none" strike="noStrike" cap="non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1.a) Action</a:t>
                      </a:r>
                      <a:endParaRPr sz="1400" b="0" u="none" strike="noStrike" cap="none">
                        <a:solidFill>
                          <a:schemeClr val="dk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400" b="0" u="none" strike="noStrike" cap="non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1.b) Reason</a:t>
                      </a:r>
                      <a:endParaRPr sz="1400" b="0" u="none" strike="noStrike" cap="none">
                        <a:solidFill>
                          <a:schemeClr val="dk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0" u="none" strike="noStrike" cap="non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Grammaticality</a:t>
                      </a:r>
                      <a:endParaRPr sz="1400" b="0" u="none" strike="noStrike" cap="none">
                        <a:solidFill>
                          <a:schemeClr val="dk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0" u="none" strike="noStrike" cap="non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Word Choice</a:t>
                      </a:r>
                      <a:endParaRPr sz="1400" b="0" u="none" strike="noStrike" cap="none">
                        <a:solidFill>
                          <a:schemeClr val="dk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0" u="none" strike="noStrike" cap="non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Cohesion</a:t>
                      </a:r>
                      <a:endParaRPr sz="1400" b="0" u="none" strike="noStrike" cap="none">
                        <a:solidFill>
                          <a:schemeClr val="dk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0" u="none" strike="noStrike" cap="non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Conciseness</a:t>
                      </a:r>
                      <a:endParaRPr sz="1400" b="0" u="none" strike="noStrike" cap="none">
                        <a:solidFill>
                          <a:schemeClr val="dk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0" u="none" strike="noStrike" cap="non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Appropriateness</a:t>
                      </a:r>
                      <a:endParaRPr sz="1400" b="0" u="none" strike="noStrike" cap="none">
                        <a:solidFill>
                          <a:schemeClr val="dk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0" u="none" strike="noStrike" cap="non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Coherence</a:t>
                      </a:r>
                      <a:endParaRPr sz="1400" b="0" u="none" strike="noStrike" cap="none">
                        <a:solidFill>
                          <a:schemeClr val="dk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31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1" u="none" strike="noStrike" cap="none">
                        <a:solidFill>
                          <a:srgbClr val="FF0000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400" b="0" u="none" strike="noStrike" cap="non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2.a) Evidence</a:t>
                      </a:r>
                      <a:endParaRPr sz="1400" u="none" strike="noStrike" cap="none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1" u="none" strike="noStrike" cap="none">
                        <a:solidFill>
                          <a:srgbClr val="9900FF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1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0" u="none" strike="noStrike" cap="non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Plausibility</a:t>
                      </a:r>
                      <a:endParaRPr sz="1400" b="0" u="none" strike="noStrike" cap="none">
                        <a:solidFill>
                          <a:schemeClr val="dk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6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1" u="none" strike="noStrike" cap="none">
                        <a:solidFill>
                          <a:srgbClr val="FF0000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400" b="0" u="none" strike="noStrike" cap="non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3.a) Affective appeal(s) and Qualifier(s)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1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0" u="none" strike="noStrike" cap="non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Stance Clarity</a:t>
                      </a:r>
                      <a:endParaRPr sz="1400" b="0" u="none" strike="noStrike" cap="none">
                        <a:solidFill>
                          <a:schemeClr val="dk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297" name="Google Shape;297;g366c45a6477_0_40" descr="A black text on a white background&#10;&#10;AI-generated content may be incorrect."/>
          <p:cNvPicPr preferRelativeResize="0"/>
          <p:nvPr/>
        </p:nvPicPr>
        <p:blipFill rotWithShape="1">
          <a:blip r:embed="rId4">
            <a:alphaModFix/>
          </a:blip>
          <a:srcRect r="6015" b="-3358"/>
          <a:stretch/>
        </p:blipFill>
        <p:spPr>
          <a:xfrm>
            <a:off x="555090" y="3261571"/>
            <a:ext cx="1963896" cy="356946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" name="Google Shape;298;g366c45a6477_0_40" descr="A black text on a white background&#10;&#10;AI-generated content may be incorrect.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9854" y="4120470"/>
            <a:ext cx="1963896" cy="36326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g366c45a6477_0_40" descr="A black text on a white background&#10;&#10;AI-generated content may be incorrect.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9854" y="4836750"/>
            <a:ext cx="1570418" cy="363264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g366c45a6477_0_40"/>
          <p:cNvSpPr txBox="1"/>
          <p:nvPr/>
        </p:nvSpPr>
        <p:spPr>
          <a:xfrm>
            <a:off x="4028273" y="3006959"/>
            <a:ext cx="437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DC"/>
                </a:solidFill>
                <a:latin typeface="Cambria"/>
                <a:ea typeface="Cambria"/>
                <a:cs typeface="Cambria"/>
                <a:sym typeface="Cambria"/>
              </a:rPr>
              <a:t>✅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g366c45a6477_0_40"/>
          <p:cNvSpPr txBox="1"/>
          <p:nvPr/>
        </p:nvSpPr>
        <p:spPr>
          <a:xfrm>
            <a:off x="4042446" y="3233790"/>
            <a:ext cx="437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DC"/>
                </a:solidFill>
                <a:latin typeface="Cambria"/>
                <a:ea typeface="Cambria"/>
                <a:cs typeface="Cambria"/>
                <a:sym typeface="Cambria"/>
              </a:rPr>
              <a:t>✅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g366c45a6477_0_40"/>
          <p:cNvSpPr txBox="1"/>
          <p:nvPr/>
        </p:nvSpPr>
        <p:spPr>
          <a:xfrm>
            <a:off x="6211498" y="3021131"/>
            <a:ext cx="437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DC"/>
                </a:solidFill>
                <a:latin typeface="Cambria"/>
                <a:ea typeface="Cambria"/>
                <a:cs typeface="Cambria"/>
                <a:sym typeface="Cambria"/>
              </a:rPr>
              <a:t>✅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g366c45a6477_0_40"/>
          <p:cNvSpPr txBox="1"/>
          <p:nvPr/>
        </p:nvSpPr>
        <p:spPr>
          <a:xfrm>
            <a:off x="6215040" y="3216063"/>
            <a:ext cx="437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DC"/>
                </a:solidFill>
                <a:latin typeface="Cambria"/>
                <a:ea typeface="Cambria"/>
                <a:cs typeface="Cambria"/>
                <a:sym typeface="Cambria"/>
              </a:rPr>
              <a:t>✅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g366c45a6477_0_40"/>
          <p:cNvSpPr txBox="1"/>
          <p:nvPr/>
        </p:nvSpPr>
        <p:spPr>
          <a:xfrm>
            <a:off x="6225672" y="3418084"/>
            <a:ext cx="437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DC"/>
                </a:solidFill>
                <a:latin typeface="Cambria"/>
                <a:ea typeface="Cambria"/>
                <a:cs typeface="Cambria"/>
                <a:sym typeface="Cambria"/>
              </a:rPr>
              <a:t>✅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g366c45a6477_0_40"/>
          <p:cNvSpPr txBox="1"/>
          <p:nvPr/>
        </p:nvSpPr>
        <p:spPr>
          <a:xfrm>
            <a:off x="8245870" y="3024674"/>
            <a:ext cx="437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DC"/>
                </a:solidFill>
                <a:latin typeface="Cambria"/>
                <a:ea typeface="Cambria"/>
                <a:cs typeface="Cambria"/>
                <a:sym typeface="Cambria"/>
              </a:rPr>
              <a:t>✅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g366c45a6477_0_40"/>
          <p:cNvSpPr txBox="1"/>
          <p:nvPr/>
        </p:nvSpPr>
        <p:spPr>
          <a:xfrm>
            <a:off x="8249412" y="3219606"/>
            <a:ext cx="437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DC"/>
                </a:solidFill>
                <a:latin typeface="Cambria"/>
                <a:ea typeface="Cambria"/>
                <a:cs typeface="Cambria"/>
                <a:sym typeface="Cambria"/>
              </a:rPr>
              <a:t>✅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g366c45a6477_0_40"/>
          <p:cNvSpPr txBox="1"/>
          <p:nvPr/>
        </p:nvSpPr>
        <p:spPr>
          <a:xfrm>
            <a:off x="8260044" y="3421627"/>
            <a:ext cx="437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DC"/>
                </a:solidFill>
                <a:latin typeface="Cambria"/>
                <a:ea typeface="Cambria"/>
                <a:cs typeface="Cambria"/>
                <a:sym typeface="Cambria"/>
              </a:rPr>
              <a:t>✅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g366c45a6477_0_40"/>
          <p:cNvSpPr txBox="1"/>
          <p:nvPr/>
        </p:nvSpPr>
        <p:spPr>
          <a:xfrm>
            <a:off x="4056617" y="4002883"/>
            <a:ext cx="437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DC"/>
                </a:solidFill>
                <a:latin typeface="Cambria"/>
                <a:ea typeface="Cambria"/>
                <a:cs typeface="Cambria"/>
                <a:sym typeface="Cambria"/>
              </a:rPr>
              <a:t>✅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g366c45a6477_0_40"/>
          <p:cNvSpPr txBox="1"/>
          <p:nvPr/>
        </p:nvSpPr>
        <p:spPr>
          <a:xfrm>
            <a:off x="8245869" y="3992253"/>
            <a:ext cx="437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DC"/>
                </a:solidFill>
                <a:latin typeface="Cambria"/>
                <a:ea typeface="Cambria"/>
                <a:cs typeface="Cambria"/>
                <a:sym typeface="Cambria"/>
              </a:rPr>
              <a:t>✅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g366c45a6477_0_40"/>
          <p:cNvSpPr txBox="1"/>
          <p:nvPr/>
        </p:nvSpPr>
        <p:spPr>
          <a:xfrm>
            <a:off x="3540362" y="5692353"/>
            <a:ext cx="2188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1" i="0" u="none" strike="noStrike" cap="none" dirty="0">
                <a:solidFill>
                  <a:srgbClr val="FFC000"/>
                </a:solidFill>
                <a:latin typeface="Cambria"/>
                <a:ea typeface="Cambria"/>
                <a:cs typeface="Cambria"/>
                <a:sym typeface="Cambria"/>
              </a:rPr>
              <a:t>Good justification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g366c45a6477_0_40"/>
          <p:cNvSpPr/>
          <p:nvPr/>
        </p:nvSpPr>
        <p:spPr>
          <a:xfrm>
            <a:off x="2609288" y="3927882"/>
            <a:ext cx="5979600" cy="700200"/>
          </a:xfrm>
          <a:prstGeom prst="rect">
            <a:avLst/>
          </a:prstGeom>
          <a:noFill/>
          <a:ln w="38100" cap="flat" cmpd="sng">
            <a:solidFill>
              <a:srgbClr val="FCDF0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g366c45a6477_0_40"/>
          <p:cNvSpPr/>
          <p:nvPr/>
        </p:nvSpPr>
        <p:spPr>
          <a:xfrm>
            <a:off x="202025" y="3147218"/>
            <a:ext cx="300000" cy="15123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1160A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g366c45a6477_0_40"/>
          <p:cNvSpPr/>
          <p:nvPr/>
        </p:nvSpPr>
        <p:spPr>
          <a:xfrm>
            <a:off x="8348100" y="6373475"/>
            <a:ext cx="484200" cy="372300"/>
          </a:xfrm>
          <a:prstGeom prst="roundRect">
            <a:avLst>
              <a:gd name="adj" fmla="val 16667"/>
            </a:avLst>
          </a:prstGeom>
          <a:solidFill>
            <a:srgbClr val="F116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 dirty="0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14</a:t>
            </a:r>
            <a:endParaRPr sz="1400" b="0" i="0" u="none" strike="noStrike" cap="none" dirty="0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4" name="Google Shape;150;g362a475d704_0_82">
            <a:extLst>
              <a:ext uri="{FF2B5EF4-FFF2-40B4-BE49-F238E27FC236}">
                <a16:creationId xmlns:a16="http://schemas.microsoft.com/office/drawing/2014/main" id="{33184C4C-5D02-A312-0318-55E4926A28B1}"/>
              </a:ext>
            </a:extLst>
          </p:cNvPr>
          <p:cNvSpPr txBox="1"/>
          <p:nvPr/>
        </p:nvSpPr>
        <p:spPr>
          <a:xfrm>
            <a:off x="434550" y="30431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" sz="3000" b="1" i="0" u="none" strike="noStrike" cap="none" dirty="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Methodology: Step 1</a:t>
            </a:r>
            <a:endParaRPr sz="2100" b="1" i="0" u="none" strike="noStrike" cap="none" dirty="0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5" name="Google Shape;151;g362a475d704_0_82">
            <a:extLst>
              <a:ext uri="{FF2B5EF4-FFF2-40B4-BE49-F238E27FC236}">
                <a16:creationId xmlns:a16="http://schemas.microsoft.com/office/drawing/2014/main" id="{5D40B7FF-1BEE-9F74-1604-3B37EAD529A1}"/>
              </a:ext>
            </a:extLst>
          </p:cNvPr>
          <p:cNvSpPr/>
          <p:nvPr/>
        </p:nvSpPr>
        <p:spPr>
          <a:xfrm>
            <a:off x="240125" y="304325"/>
            <a:ext cx="147600" cy="614400"/>
          </a:xfrm>
          <a:prstGeom prst="roundRect">
            <a:avLst>
              <a:gd name="adj" fmla="val 16667"/>
            </a:avLst>
          </a:prstGeom>
          <a:solidFill>
            <a:srgbClr val="F116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rgbClr val="FF0000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1" grpId="0"/>
      <p:bldP spid="31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20" name="Google Shape;320;p14"/>
          <p:cNvGraphicFramePr/>
          <p:nvPr/>
        </p:nvGraphicFramePr>
        <p:xfrm>
          <a:off x="680156" y="1588853"/>
          <a:ext cx="7908750" cy="3680295"/>
        </p:xfrm>
        <a:graphic>
          <a:graphicData uri="http://schemas.openxmlformats.org/drawingml/2006/table">
            <a:tbl>
              <a:tblPr>
                <a:noFill/>
                <a:tableStyleId>{0BA219C8-81FF-40D2-9AAD-F39E110716C0}</a:tableStyleId>
              </a:tblPr>
              <a:tblGrid>
                <a:gridCol w="190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46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8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95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71425"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1" u="none" strike="noStrike" cap="non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Type of explanation</a:t>
                      </a:r>
                      <a:endParaRPr sz="1400" b="1" u="none" strike="noStrike" cap="none">
                        <a:solidFill>
                          <a:schemeClr val="dk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1" u="none" strike="noStrike" cap="none">
                        <a:solidFill>
                          <a:schemeClr val="dk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1" u="none" strike="noStrike" cap="non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Components</a:t>
                      </a:r>
                      <a:endParaRPr sz="1400" b="1" u="none" strike="noStrike" cap="none">
                        <a:solidFill>
                          <a:schemeClr val="dk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strike="noStrike" cap="non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necessary parts of an explanation that contribute to its </a:t>
                      </a:r>
                      <a:r>
                        <a:rPr lang="en" sz="1000" i="1" u="none" strike="noStrike" cap="non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completeness</a:t>
                      </a:r>
                      <a:endParaRPr sz="1400" b="1" u="none" strike="noStrike" cap="none">
                        <a:solidFill>
                          <a:schemeClr val="dk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1" u="none" strike="noStrike" cap="non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Dimensions</a:t>
                      </a:r>
                      <a:endParaRPr sz="1400" b="1" u="none" strike="noStrike" cap="none">
                        <a:solidFill>
                          <a:schemeClr val="dk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  <a:p>
                      <a:pPr marL="45720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000"/>
                        <a:buFont typeface="Arial"/>
                        <a:buNone/>
                      </a:pPr>
                      <a:r>
                        <a:rPr lang="en" sz="1000" u="none" strike="noStrike" cap="non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necessary linguistic or content feature of an explanation that contributes to its </a:t>
                      </a:r>
                      <a:r>
                        <a:rPr lang="en" sz="1000" i="1" u="none" strike="noStrike" cap="non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quality</a:t>
                      </a:r>
                      <a:endParaRPr sz="1000" u="none" strike="noStrike" cap="none">
                        <a:solidFill>
                          <a:schemeClr val="dk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65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1" u="none" strike="noStrike" cap="non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Language</a:t>
                      </a:r>
                      <a:endParaRPr sz="1400" b="1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1" u="none" strike="noStrike" cap="non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Content</a:t>
                      </a:r>
                      <a:endParaRPr sz="1400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897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1" u="none" strike="noStrike" cap="none">
                        <a:solidFill>
                          <a:srgbClr val="FF0000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400" b="0" u="none" strike="noStrike" cap="non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1.a) Action</a:t>
                      </a:r>
                      <a:endParaRPr sz="1400" b="0" u="none" strike="noStrike" cap="none">
                        <a:solidFill>
                          <a:schemeClr val="dk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400" b="0" u="none" strike="noStrike" cap="non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1.b) Reason</a:t>
                      </a:r>
                      <a:endParaRPr sz="1400" b="0" u="none" strike="noStrike" cap="none">
                        <a:solidFill>
                          <a:schemeClr val="dk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0" u="none" strike="noStrike" cap="non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Grammaticality</a:t>
                      </a:r>
                      <a:endParaRPr sz="1400" b="0" u="none" strike="noStrike" cap="none">
                        <a:solidFill>
                          <a:schemeClr val="dk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0" u="none" strike="noStrike" cap="non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Word Choice</a:t>
                      </a:r>
                      <a:endParaRPr sz="1400" b="0" u="none" strike="noStrike" cap="none">
                        <a:solidFill>
                          <a:schemeClr val="dk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0" u="none" strike="noStrike" cap="non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Cohesion</a:t>
                      </a:r>
                      <a:endParaRPr sz="1400" b="0" u="none" strike="noStrike" cap="none">
                        <a:solidFill>
                          <a:schemeClr val="dk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0" u="none" strike="noStrike" cap="non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Conciseness</a:t>
                      </a:r>
                      <a:endParaRPr sz="1400" b="0" u="none" strike="noStrike" cap="none">
                        <a:solidFill>
                          <a:schemeClr val="dk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0" u="none" strike="noStrike" cap="non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Appropriateness</a:t>
                      </a:r>
                      <a:endParaRPr sz="1400" b="0" u="none" strike="noStrike" cap="none">
                        <a:solidFill>
                          <a:schemeClr val="dk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0" u="none" strike="noStrike" cap="non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Coherence</a:t>
                      </a:r>
                      <a:endParaRPr sz="1400" b="0" u="none" strike="noStrike" cap="none">
                        <a:solidFill>
                          <a:schemeClr val="dk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31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1" u="none" strike="noStrike" cap="none">
                        <a:solidFill>
                          <a:srgbClr val="FF0000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400" b="0" u="none" strike="noStrike" cap="non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2.a) Evidence</a:t>
                      </a:r>
                      <a:endParaRPr sz="1400" u="none" strike="noStrike" cap="none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1" u="none" strike="noStrike" cap="none">
                        <a:solidFill>
                          <a:srgbClr val="9900FF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1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0" u="none" strike="noStrike" cap="non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Plausibility</a:t>
                      </a:r>
                      <a:endParaRPr sz="1400" b="0" u="none" strike="noStrike" cap="none">
                        <a:solidFill>
                          <a:schemeClr val="dk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6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1" u="none" strike="noStrike" cap="none">
                        <a:solidFill>
                          <a:srgbClr val="FF0000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400" b="0" u="none" strike="noStrike" cap="non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3.a) Affective appeal(s) and Qualifier(s)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1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0" u="none" strike="noStrike" cap="non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Stance Clarity</a:t>
                      </a:r>
                      <a:endParaRPr sz="1400" b="0" u="none" strike="noStrike" cap="none">
                        <a:solidFill>
                          <a:schemeClr val="dk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321" name="Google Shape;321;p14" descr="A black text on a white background&#10;&#10;AI-generated content may be incorrect."/>
          <p:cNvPicPr preferRelativeResize="0"/>
          <p:nvPr/>
        </p:nvPicPr>
        <p:blipFill rotWithShape="1">
          <a:blip r:embed="rId4">
            <a:alphaModFix/>
          </a:blip>
          <a:srcRect t="-1" r="6017" b="-3357"/>
          <a:stretch/>
        </p:blipFill>
        <p:spPr>
          <a:xfrm>
            <a:off x="555090" y="3261571"/>
            <a:ext cx="1963896" cy="356946"/>
          </a:xfrm>
          <a:prstGeom prst="rect">
            <a:avLst/>
          </a:prstGeom>
          <a:noFill/>
          <a:ln>
            <a:noFill/>
          </a:ln>
        </p:spPr>
      </p:pic>
      <p:pic>
        <p:nvPicPr>
          <p:cNvPr id="322" name="Google Shape;322;p14" descr="A black text on a white background&#10;&#10;AI-generated content may be incorrect.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9854" y="4120470"/>
            <a:ext cx="1963896" cy="363264"/>
          </a:xfrm>
          <a:prstGeom prst="rect">
            <a:avLst/>
          </a:prstGeom>
          <a:noFill/>
          <a:ln>
            <a:noFill/>
          </a:ln>
        </p:spPr>
      </p:pic>
      <p:pic>
        <p:nvPicPr>
          <p:cNvPr id="323" name="Google Shape;323;p14" descr="A black text on a white background&#10;&#10;AI-generated content may be incorrect.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9854" y="4836750"/>
            <a:ext cx="1570418" cy="363264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14"/>
          <p:cNvSpPr txBox="1"/>
          <p:nvPr/>
        </p:nvSpPr>
        <p:spPr>
          <a:xfrm>
            <a:off x="4028273" y="3006959"/>
            <a:ext cx="43740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DC"/>
                </a:solidFill>
                <a:latin typeface="Cambria"/>
                <a:ea typeface="Cambria"/>
                <a:cs typeface="Cambria"/>
                <a:sym typeface="Cambria"/>
              </a:rPr>
              <a:t>✅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14"/>
          <p:cNvSpPr txBox="1"/>
          <p:nvPr/>
        </p:nvSpPr>
        <p:spPr>
          <a:xfrm>
            <a:off x="4042446" y="3233790"/>
            <a:ext cx="43740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DC"/>
                </a:solidFill>
                <a:latin typeface="Cambria"/>
                <a:ea typeface="Cambria"/>
                <a:cs typeface="Cambria"/>
                <a:sym typeface="Cambria"/>
              </a:rPr>
              <a:t>✅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14"/>
          <p:cNvSpPr txBox="1"/>
          <p:nvPr/>
        </p:nvSpPr>
        <p:spPr>
          <a:xfrm>
            <a:off x="6211498" y="3021131"/>
            <a:ext cx="43740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DC"/>
                </a:solidFill>
                <a:latin typeface="Cambria"/>
                <a:ea typeface="Cambria"/>
                <a:cs typeface="Cambria"/>
                <a:sym typeface="Cambria"/>
              </a:rPr>
              <a:t>✅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14"/>
          <p:cNvSpPr txBox="1"/>
          <p:nvPr/>
        </p:nvSpPr>
        <p:spPr>
          <a:xfrm>
            <a:off x="6215040" y="3216063"/>
            <a:ext cx="43740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DC"/>
                </a:solidFill>
                <a:latin typeface="Cambria"/>
                <a:ea typeface="Cambria"/>
                <a:cs typeface="Cambria"/>
                <a:sym typeface="Cambria"/>
              </a:rPr>
              <a:t>✅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14"/>
          <p:cNvSpPr txBox="1"/>
          <p:nvPr/>
        </p:nvSpPr>
        <p:spPr>
          <a:xfrm>
            <a:off x="6225672" y="3418084"/>
            <a:ext cx="43740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DC"/>
                </a:solidFill>
                <a:latin typeface="Cambria"/>
                <a:ea typeface="Cambria"/>
                <a:cs typeface="Cambria"/>
                <a:sym typeface="Cambria"/>
              </a:rPr>
              <a:t>✅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14"/>
          <p:cNvSpPr txBox="1"/>
          <p:nvPr/>
        </p:nvSpPr>
        <p:spPr>
          <a:xfrm>
            <a:off x="8245870" y="3024674"/>
            <a:ext cx="43740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DC"/>
                </a:solidFill>
                <a:latin typeface="Cambria"/>
                <a:ea typeface="Cambria"/>
                <a:cs typeface="Cambria"/>
                <a:sym typeface="Cambria"/>
              </a:rPr>
              <a:t>✅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14"/>
          <p:cNvSpPr txBox="1"/>
          <p:nvPr/>
        </p:nvSpPr>
        <p:spPr>
          <a:xfrm>
            <a:off x="8249412" y="3219606"/>
            <a:ext cx="43740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DC"/>
                </a:solidFill>
                <a:latin typeface="Cambria"/>
                <a:ea typeface="Cambria"/>
                <a:cs typeface="Cambria"/>
                <a:sym typeface="Cambria"/>
              </a:rPr>
              <a:t>✅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14"/>
          <p:cNvSpPr txBox="1"/>
          <p:nvPr/>
        </p:nvSpPr>
        <p:spPr>
          <a:xfrm>
            <a:off x="8260044" y="3421627"/>
            <a:ext cx="43740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DC"/>
                </a:solidFill>
                <a:latin typeface="Cambria"/>
                <a:ea typeface="Cambria"/>
                <a:cs typeface="Cambria"/>
                <a:sym typeface="Cambria"/>
              </a:rPr>
              <a:t>✅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14"/>
          <p:cNvSpPr txBox="1"/>
          <p:nvPr/>
        </p:nvSpPr>
        <p:spPr>
          <a:xfrm>
            <a:off x="4056617" y="4002883"/>
            <a:ext cx="43740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DC"/>
                </a:solidFill>
                <a:latin typeface="Cambria"/>
                <a:ea typeface="Cambria"/>
                <a:cs typeface="Cambria"/>
                <a:sym typeface="Cambria"/>
              </a:rPr>
              <a:t>✅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14"/>
          <p:cNvSpPr txBox="1"/>
          <p:nvPr/>
        </p:nvSpPr>
        <p:spPr>
          <a:xfrm>
            <a:off x="8245869" y="3992253"/>
            <a:ext cx="43740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DC"/>
                </a:solidFill>
                <a:latin typeface="Cambria"/>
                <a:ea typeface="Cambria"/>
                <a:cs typeface="Cambria"/>
                <a:sym typeface="Cambria"/>
              </a:rPr>
              <a:t>✅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14"/>
          <p:cNvSpPr txBox="1"/>
          <p:nvPr/>
        </p:nvSpPr>
        <p:spPr>
          <a:xfrm>
            <a:off x="4194846" y="4959810"/>
            <a:ext cx="43740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DC"/>
                </a:solidFill>
                <a:latin typeface="Cambria"/>
                <a:ea typeface="Cambria"/>
                <a:cs typeface="Cambria"/>
                <a:sym typeface="Cambria"/>
              </a:rPr>
              <a:t>✅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14"/>
          <p:cNvSpPr txBox="1"/>
          <p:nvPr/>
        </p:nvSpPr>
        <p:spPr>
          <a:xfrm>
            <a:off x="8260043" y="4748666"/>
            <a:ext cx="43740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DC"/>
                </a:solidFill>
                <a:latin typeface="Cambria"/>
                <a:ea typeface="Cambria"/>
                <a:cs typeface="Cambria"/>
                <a:sym typeface="Cambria"/>
              </a:rPr>
              <a:t>✅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14"/>
          <p:cNvSpPr txBox="1"/>
          <p:nvPr/>
        </p:nvSpPr>
        <p:spPr>
          <a:xfrm>
            <a:off x="3540362" y="5692353"/>
            <a:ext cx="218834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1" i="0" u="none" strike="noStrike" cap="none">
                <a:solidFill>
                  <a:srgbClr val="F1160A"/>
                </a:solidFill>
                <a:latin typeface="Cambria"/>
                <a:ea typeface="Cambria"/>
                <a:cs typeface="Cambria"/>
                <a:sym typeface="Cambria"/>
              </a:rPr>
              <a:t>An argument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14"/>
          <p:cNvSpPr/>
          <p:nvPr/>
        </p:nvSpPr>
        <p:spPr>
          <a:xfrm>
            <a:off x="2574524" y="4652775"/>
            <a:ext cx="2060100" cy="700200"/>
          </a:xfrm>
          <a:prstGeom prst="rect">
            <a:avLst/>
          </a:prstGeom>
          <a:noFill/>
          <a:ln w="38100" cap="flat" cmpd="sng">
            <a:solidFill>
              <a:srgbClr val="F1160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14"/>
          <p:cNvSpPr/>
          <p:nvPr/>
        </p:nvSpPr>
        <p:spPr>
          <a:xfrm>
            <a:off x="8348100" y="6373475"/>
            <a:ext cx="484200" cy="372300"/>
          </a:xfrm>
          <a:prstGeom prst="roundRect">
            <a:avLst>
              <a:gd name="adj" fmla="val 16667"/>
            </a:avLst>
          </a:prstGeom>
          <a:solidFill>
            <a:srgbClr val="F116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15</a:t>
            </a:r>
            <a:endParaRPr sz="1400" b="0" i="0" u="none" strike="noStrike" cap="non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4" name="Google Shape;150;g362a475d704_0_82">
            <a:extLst>
              <a:ext uri="{FF2B5EF4-FFF2-40B4-BE49-F238E27FC236}">
                <a16:creationId xmlns:a16="http://schemas.microsoft.com/office/drawing/2014/main" id="{7BE61192-CE98-50BB-0FC2-3971F4779DE5}"/>
              </a:ext>
            </a:extLst>
          </p:cNvPr>
          <p:cNvSpPr txBox="1"/>
          <p:nvPr/>
        </p:nvSpPr>
        <p:spPr>
          <a:xfrm>
            <a:off x="434550" y="30431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" sz="3000" b="1" i="0" u="none" strike="noStrike" cap="none" dirty="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Methodology: Step 1</a:t>
            </a:r>
            <a:endParaRPr sz="2100" b="1" i="0" u="none" strike="noStrike" cap="none" dirty="0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5" name="Google Shape;151;g362a475d704_0_82">
            <a:extLst>
              <a:ext uri="{FF2B5EF4-FFF2-40B4-BE49-F238E27FC236}">
                <a16:creationId xmlns:a16="http://schemas.microsoft.com/office/drawing/2014/main" id="{36A94D42-63E4-5BA9-5B5B-365AB5311E4D}"/>
              </a:ext>
            </a:extLst>
          </p:cNvPr>
          <p:cNvSpPr/>
          <p:nvPr/>
        </p:nvSpPr>
        <p:spPr>
          <a:xfrm>
            <a:off x="240125" y="304325"/>
            <a:ext cx="147600" cy="614400"/>
          </a:xfrm>
          <a:prstGeom prst="roundRect">
            <a:avLst>
              <a:gd name="adj" fmla="val 16667"/>
            </a:avLst>
          </a:prstGeom>
          <a:solidFill>
            <a:srgbClr val="F116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rgbClr val="FF0000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46" name="Google Shape;346;g366c45a6477_0_63"/>
          <p:cNvGraphicFramePr/>
          <p:nvPr/>
        </p:nvGraphicFramePr>
        <p:xfrm>
          <a:off x="680156" y="1588853"/>
          <a:ext cx="7908750" cy="3680295"/>
        </p:xfrm>
        <a:graphic>
          <a:graphicData uri="http://schemas.openxmlformats.org/drawingml/2006/table">
            <a:tbl>
              <a:tblPr>
                <a:noFill/>
                <a:tableStyleId>{0BA219C8-81FF-40D2-9AAD-F39E110716C0}</a:tableStyleId>
              </a:tblPr>
              <a:tblGrid>
                <a:gridCol w="190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46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8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95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71425"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1" u="none" strike="noStrike" cap="non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Type of explanation</a:t>
                      </a:r>
                      <a:endParaRPr sz="1400" b="1" u="none" strike="noStrike" cap="none">
                        <a:solidFill>
                          <a:schemeClr val="dk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1" u="none" strike="noStrike" cap="none">
                        <a:solidFill>
                          <a:schemeClr val="dk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1" u="none" strike="noStrike" cap="non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Components</a:t>
                      </a:r>
                      <a:endParaRPr sz="1400" b="1" u="none" strike="noStrike" cap="none">
                        <a:solidFill>
                          <a:schemeClr val="dk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strike="noStrike" cap="non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necessary parts of an explanation that contribute to its </a:t>
                      </a:r>
                      <a:r>
                        <a:rPr lang="en" sz="1000" i="1" u="none" strike="noStrike" cap="non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completeness</a:t>
                      </a:r>
                      <a:endParaRPr sz="1400" b="1" u="none" strike="noStrike" cap="none">
                        <a:solidFill>
                          <a:schemeClr val="dk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1" u="none" strike="noStrike" cap="non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Dimensions</a:t>
                      </a:r>
                      <a:endParaRPr sz="1400" b="1" u="none" strike="noStrike" cap="none">
                        <a:solidFill>
                          <a:schemeClr val="dk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  <a:p>
                      <a:pPr marL="45720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000"/>
                        <a:buFont typeface="Arial"/>
                        <a:buNone/>
                      </a:pPr>
                      <a:r>
                        <a:rPr lang="en" sz="1000" u="none" strike="noStrike" cap="non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necessary linguistic or content feature of an explanation that contributes to its </a:t>
                      </a:r>
                      <a:r>
                        <a:rPr lang="en" sz="1000" i="1" u="none" strike="noStrike" cap="non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quality</a:t>
                      </a:r>
                      <a:endParaRPr sz="1000" u="none" strike="noStrike" cap="none">
                        <a:solidFill>
                          <a:schemeClr val="dk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65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1" u="none" strike="noStrike" cap="non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Language</a:t>
                      </a:r>
                      <a:endParaRPr sz="1400" b="1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1" u="none" strike="noStrike" cap="non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Content</a:t>
                      </a:r>
                      <a:endParaRPr sz="1400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897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1" u="none" strike="noStrike" cap="none">
                        <a:solidFill>
                          <a:srgbClr val="FF0000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400" b="0" u="none" strike="noStrike" cap="non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1.a) Action</a:t>
                      </a:r>
                      <a:endParaRPr sz="1400" b="0" u="none" strike="noStrike" cap="none">
                        <a:solidFill>
                          <a:schemeClr val="dk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400" b="0" u="none" strike="noStrike" cap="non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1.b) Reason</a:t>
                      </a:r>
                      <a:endParaRPr sz="1400" b="0" u="none" strike="noStrike" cap="none">
                        <a:solidFill>
                          <a:schemeClr val="dk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0" u="none" strike="noStrike" cap="non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Grammaticality</a:t>
                      </a:r>
                      <a:endParaRPr sz="1400" b="0" u="none" strike="noStrike" cap="none">
                        <a:solidFill>
                          <a:schemeClr val="dk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0" u="none" strike="noStrike" cap="non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Word Choice</a:t>
                      </a:r>
                      <a:endParaRPr sz="1400" b="0" u="none" strike="noStrike" cap="none">
                        <a:solidFill>
                          <a:schemeClr val="dk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0" u="none" strike="noStrike" cap="non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Cohesion</a:t>
                      </a:r>
                      <a:endParaRPr sz="1400" b="0" u="none" strike="noStrike" cap="none">
                        <a:solidFill>
                          <a:schemeClr val="dk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0" u="none" strike="noStrike" cap="non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Conciseness</a:t>
                      </a:r>
                      <a:endParaRPr sz="1400" b="0" u="none" strike="noStrike" cap="none">
                        <a:solidFill>
                          <a:schemeClr val="dk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0" u="none" strike="noStrike" cap="non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Appropriateness</a:t>
                      </a:r>
                      <a:endParaRPr sz="1400" b="0" u="none" strike="noStrike" cap="none">
                        <a:solidFill>
                          <a:schemeClr val="dk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0" u="none" strike="noStrike" cap="non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Coherence</a:t>
                      </a:r>
                      <a:endParaRPr sz="1400" b="0" u="none" strike="noStrike" cap="none">
                        <a:solidFill>
                          <a:schemeClr val="dk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31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1" u="none" strike="noStrike" cap="none">
                        <a:solidFill>
                          <a:srgbClr val="FF0000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400" b="0" u="none" strike="noStrike" cap="non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2.a) Evidence</a:t>
                      </a:r>
                      <a:endParaRPr sz="1400" u="none" strike="noStrike" cap="none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1" u="none" strike="noStrike" cap="none">
                        <a:solidFill>
                          <a:srgbClr val="9900FF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1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0" u="none" strike="noStrike" cap="non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Plausibility</a:t>
                      </a:r>
                      <a:endParaRPr sz="1400" b="0" u="none" strike="noStrike" cap="none">
                        <a:solidFill>
                          <a:schemeClr val="dk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6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1" u="none" strike="noStrike" cap="none">
                        <a:solidFill>
                          <a:srgbClr val="FF0000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400" b="0" u="none" strike="noStrike" cap="non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3.a) Affective appeal(s) and Qualifier(s)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1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0" u="none" strike="noStrike" cap="non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Stance Clarity</a:t>
                      </a:r>
                      <a:endParaRPr sz="1400" b="0" u="none" strike="noStrike" cap="none">
                        <a:solidFill>
                          <a:schemeClr val="dk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347" name="Google Shape;347;g366c45a6477_0_63" descr="A black text on a white background&#10;&#10;AI-generated content may be incorrect."/>
          <p:cNvPicPr preferRelativeResize="0"/>
          <p:nvPr/>
        </p:nvPicPr>
        <p:blipFill rotWithShape="1">
          <a:blip r:embed="rId4">
            <a:alphaModFix/>
          </a:blip>
          <a:srcRect r="6015" b="-3358"/>
          <a:stretch/>
        </p:blipFill>
        <p:spPr>
          <a:xfrm>
            <a:off x="555090" y="3261571"/>
            <a:ext cx="1963896" cy="356946"/>
          </a:xfrm>
          <a:prstGeom prst="rect">
            <a:avLst/>
          </a:prstGeom>
          <a:noFill/>
          <a:ln>
            <a:noFill/>
          </a:ln>
        </p:spPr>
      </p:pic>
      <p:pic>
        <p:nvPicPr>
          <p:cNvPr id="348" name="Google Shape;348;g366c45a6477_0_63" descr="A black text on a white background&#10;&#10;AI-generated content may be incorrect.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9854" y="4120470"/>
            <a:ext cx="1963896" cy="363264"/>
          </a:xfrm>
          <a:prstGeom prst="rect">
            <a:avLst/>
          </a:prstGeom>
          <a:noFill/>
          <a:ln>
            <a:noFill/>
          </a:ln>
        </p:spPr>
      </p:pic>
      <p:pic>
        <p:nvPicPr>
          <p:cNvPr id="349" name="Google Shape;349;g366c45a6477_0_63" descr="A black text on a white background&#10;&#10;AI-generated content may be incorrect.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9854" y="4836750"/>
            <a:ext cx="1570418" cy="363264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g366c45a6477_0_63"/>
          <p:cNvSpPr txBox="1"/>
          <p:nvPr/>
        </p:nvSpPr>
        <p:spPr>
          <a:xfrm>
            <a:off x="4028273" y="3006959"/>
            <a:ext cx="437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DC"/>
                </a:solidFill>
                <a:latin typeface="Cambria"/>
                <a:ea typeface="Cambria"/>
                <a:cs typeface="Cambria"/>
                <a:sym typeface="Cambria"/>
              </a:rPr>
              <a:t>✅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g366c45a6477_0_63"/>
          <p:cNvSpPr txBox="1"/>
          <p:nvPr/>
        </p:nvSpPr>
        <p:spPr>
          <a:xfrm>
            <a:off x="4042446" y="3233790"/>
            <a:ext cx="437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DC"/>
                </a:solidFill>
                <a:latin typeface="Cambria"/>
                <a:ea typeface="Cambria"/>
                <a:cs typeface="Cambria"/>
                <a:sym typeface="Cambria"/>
              </a:rPr>
              <a:t>✅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g366c45a6477_0_63"/>
          <p:cNvSpPr txBox="1"/>
          <p:nvPr/>
        </p:nvSpPr>
        <p:spPr>
          <a:xfrm>
            <a:off x="6211498" y="3021131"/>
            <a:ext cx="437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DC"/>
                </a:solidFill>
                <a:latin typeface="Cambria"/>
                <a:ea typeface="Cambria"/>
                <a:cs typeface="Cambria"/>
                <a:sym typeface="Cambria"/>
              </a:rPr>
              <a:t>✅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g366c45a6477_0_63"/>
          <p:cNvSpPr txBox="1"/>
          <p:nvPr/>
        </p:nvSpPr>
        <p:spPr>
          <a:xfrm>
            <a:off x="6215040" y="3216063"/>
            <a:ext cx="437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DC"/>
                </a:solidFill>
                <a:latin typeface="Cambria"/>
                <a:ea typeface="Cambria"/>
                <a:cs typeface="Cambria"/>
                <a:sym typeface="Cambria"/>
              </a:rPr>
              <a:t>✅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g366c45a6477_0_63"/>
          <p:cNvSpPr txBox="1"/>
          <p:nvPr/>
        </p:nvSpPr>
        <p:spPr>
          <a:xfrm>
            <a:off x="6225672" y="3418084"/>
            <a:ext cx="437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DC"/>
                </a:solidFill>
                <a:latin typeface="Cambria"/>
                <a:ea typeface="Cambria"/>
                <a:cs typeface="Cambria"/>
                <a:sym typeface="Cambria"/>
              </a:rPr>
              <a:t>✅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g366c45a6477_0_63"/>
          <p:cNvSpPr txBox="1"/>
          <p:nvPr/>
        </p:nvSpPr>
        <p:spPr>
          <a:xfrm>
            <a:off x="8245870" y="3024674"/>
            <a:ext cx="437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DC"/>
                </a:solidFill>
                <a:latin typeface="Cambria"/>
                <a:ea typeface="Cambria"/>
                <a:cs typeface="Cambria"/>
                <a:sym typeface="Cambria"/>
              </a:rPr>
              <a:t>✅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g366c45a6477_0_63"/>
          <p:cNvSpPr txBox="1"/>
          <p:nvPr/>
        </p:nvSpPr>
        <p:spPr>
          <a:xfrm>
            <a:off x="8249412" y="3219606"/>
            <a:ext cx="437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DC"/>
                </a:solidFill>
                <a:latin typeface="Cambria"/>
                <a:ea typeface="Cambria"/>
                <a:cs typeface="Cambria"/>
                <a:sym typeface="Cambria"/>
              </a:rPr>
              <a:t>✅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g366c45a6477_0_63"/>
          <p:cNvSpPr txBox="1"/>
          <p:nvPr/>
        </p:nvSpPr>
        <p:spPr>
          <a:xfrm>
            <a:off x="8260044" y="3421627"/>
            <a:ext cx="437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DC"/>
                </a:solidFill>
                <a:latin typeface="Cambria"/>
                <a:ea typeface="Cambria"/>
                <a:cs typeface="Cambria"/>
                <a:sym typeface="Cambria"/>
              </a:rPr>
              <a:t>✅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g366c45a6477_0_63"/>
          <p:cNvSpPr txBox="1"/>
          <p:nvPr/>
        </p:nvSpPr>
        <p:spPr>
          <a:xfrm>
            <a:off x="4056617" y="4002883"/>
            <a:ext cx="437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DC"/>
                </a:solidFill>
                <a:latin typeface="Cambria"/>
                <a:ea typeface="Cambria"/>
                <a:cs typeface="Cambria"/>
                <a:sym typeface="Cambria"/>
              </a:rPr>
              <a:t>✅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g366c45a6477_0_63"/>
          <p:cNvSpPr txBox="1"/>
          <p:nvPr/>
        </p:nvSpPr>
        <p:spPr>
          <a:xfrm>
            <a:off x="8245869" y="3992253"/>
            <a:ext cx="437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DC"/>
                </a:solidFill>
                <a:latin typeface="Cambria"/>
                <a:ea typeface="Cambria"/>
                <a:cs typeface="Cambria"/>
                <a:sym typeface="Cambria"/>
              </a:rPr>
              <a:t>✅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g366c45a6477_0_63"/>
          <p:cNvSpPr txBox="1"/>
          <p:nvPr/>
        </p:nvSpPr>
        <p:spPr>
          <a:xfrm>
            <a:off x="4194846" y="4959810"/>
            <a:ext cx="437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DC"/>
                </a:solidFill>
                <a:latin typeface="Cambria"/>
                <a:ea typeface="Cambria"/>
                <a:cs typeface="Cambria"/>
                <a:sym typeface="Cambria"/>
              </a:rPr>
              <a:t>✅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g366c45a6477_0_63"/>
          <p:cNvSpPr txBox="1"/>
          <p:nvPr/>
        </p:nvSpPr>
        <p:spPr>
          <a:xfrm>
            <a:off x="8260043" y="4748666"/>
            <a:ext cx="437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DC"/>
                </a:solidFill>
                <a:latin typeface="Cambria"/>
                <a:ea typeface="Cambria"/>
                <a:cs typeface="Cambria"/>
                <a:sym typeface="Cambria"/>
              </a:rPr>
              <a:t>✅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g366c45a6477_0_63"/>
          <p:cNvSpPr txBox="1"/>
          <p:nvPr/>
        </p:nvSpPr>
        <p:spPr>
          <a:xfrm>
            <a:off x="3540362" y="5692353"/>
            <a:ext cx="2188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1" i="0" u="none" strike="noStrike" cap="none" dirty="0">
                <a:solidFill>
                  <a:srgbClr val="F1160A"/>
                </a:solidFill>
                <a:latin typeface="Cambria"/>
                <a:ea typeface="Cambria"/>
                <a:cs typeface="Cambria"/>
                <a:sym typeface="Cambria"/>
              </a:rPr>
              <a:t>Good argument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g366c45a6477_0_63"/>
          <p:cNvSpPr/>
          <p:nvPr/>
        </p:nvSpPr>
        <p:spPr>
          <a:xfrm>
            <a:off x="2574524" y="4652783"/>
            <a:ext cx="5979600" cy="700200"/>
          </a:xfrm>
          <a:prstGeom prst="rect">
            <a:avLst/>
          </a:prstGeom>
          <a:noFill/>
          <a:ln w="38100" cap="flat" cmpd="sng">
            <a:solidFill>
              <a:srgbClr val="F1160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g366c45a6477_0_63"/>
          <p:cNvSpPr/>
          <p:nvPr/>
        </p:nvSpPr>
        <p:spPr>
          <a:xfrm>
            <a:off x="202025" y="3147228"/>
            <a:ext cx="300000" cy="21219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1160A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g366c45a6477_0_63"/>
          <p:cNvSpPr/>
          <p:nvPr/>
        </p:nvSpPr>
        <p:spPr>
          <a:xfrm>
            <a:off x="8348100" y="6373475"/>
            <a:ext cx="484200" cy="372300"/>
          </a:xfrm>
          <a:prstGeom prst="roundRect">
            <a:avLst>
              <a:gd name="adj" fmla="val 16667"/>
            </a:avLst>
          </a:prstGeom>
          <a:solidFill>
            <a:srgbClr val="F116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15</a:t>
            </a:r>
            <a:endParaRPr sz="1400" b="0" i="0" u="none" strike="noStrike" cap="non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4" name="Google Shape;150;g362a475d704_0_82">
            <a:extLst>
              <a:ext uri="{FF2B5EF4-FFF2-40B4-BE49-F238E27FC236}">
                <a16:creationId xmlns:a16="http://schemas.microsoft.com/office/drawing/2014/main" id="{20D8721F-42ED-E25B-17C9-D4BFC0A1611C}"/>
              </a:ext>
            </a:extLst>
          </p:cNvPr>
          <p:cNvSpPr txBox="1"/>
          <p:nvPr/>
        </p:nvSpPr>
        <p:spPr>
          <a:xfrm>
            <a:off x="434550" y="30431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" sz="3000" b="1" i="0" u="none" strike="noStrike" cap="none" dirty="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Methodology: Step 1</a:t>
            </a:r>
            <a:endParaRPr sz="2100" b="1" i="0" u="none" strike="noStrike" cap="none" dirty="0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5" name="Google Shape;151;g362a475d704_0_82">
            <a:extLst>
              <a:ext uri="{FF2B5EF4-FFF2-40B4-BE49-F238E27FC236}">
                <a16:creationId xmlns:a16="http://schemas.microsoft.com/office/drawing/2014/main" id="{EB28F11C-F05A-5ACA-933E-028F5EF5A6B7}"/>
              </a:ext>
            </a:extLst>
          </p:cNvPr>
          <p:cNvSpPr/>
          <p:nvPr/>
        </p:nvSpPr>
        <p:spPr>
          <a:xfrm>
            <a:off x="240125" y="304325"/>
            <a:ext cx="147600" cy="614400"/>
          </a:xfrm>
          <a:prstGeom prst="roundRect">
            <a:avLst>
              <a:gd name="adj" fmla="val 16667"/>
            </a:avLst>
          </a:prstGeom>
          <a:solidFill>
            <a:srgbClr val="F116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rgbClr val="FF0000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3" grpId="0"/>
      <p:bldP spid="36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362a475d704_0_111"/>
          <p:cNvSpPr txBox="1"/>
          <p:nvPr/>
        </p:nvSpPr>
        <p:spPr>
          <a:xfrm>
            <a:off x="434550" y="30431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" sz="3000" b="1">
                <a:latin typeface="Cambria"/>
                <a:ea typeface="Cambria"/>
                <a:cs typeface="Cambria"/>
                <a:sym typeface="Cambria"/>
              </a:rPr>
              <a:t>Methodology: Step 2 </a:t>
            </a:r>
            <a:endParaRPr sz="2100" b="1" i="0" u="none" strike="noStrike" cap="non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372" name="Google Shape;372;g362a475d704_0_111"/>
          <p:cNvSpPr/>
          <p:nvPr/>
        </p:nvSpPr>
        <p:spPr>
          <a:xfrm>
            <a:off x="240125" y="304325"/>
            <a:ext cx="147600" cy="614400"/>
          </a:xfrm>
          <a:prstGeom prst="roundRect">
            <a:avLst>
              <a:gd name="adj" fmla="val 16667"/>
            </a:avLst>
          </a:prstGeom>
          <a:solidFill>
            <a:srgbClr val="F116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rgbClr val="FF00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g362a475d704_0_111"/>
          <p:cNvSpPr/>
          <p:nvPr/>
        </p:nvSpPr>
        <p:spPr>
          <a:xfrm>
            <a:off x="8348100" y="6373475"/>
            <a:ext cx="484200" cy="372300"/>
          </a:xfrm>
          <a:prstGeom prst="roundRect">
            <a:avLst>
              <a:gd name="adj" fmla="val 16667"/>
            </a:avLst>
          </a:prstGeom>
          <a:solidFill>
            <a:srgbClr val="F116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16</a:t>
            </a:r>
            <a:endParaRPr sz="1400" b="0" i="0" u="none" strike="noStrike" cap="non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374" name="Google Shape;374;g362a475d704_0_111"/>
          <p:cNvSpPr txBox="1"/>
          <p:nvPr/>
        </p:nvSpPr>
        <p:spPr>
          <a:xfrm>
            <a:off x="365700" y="1192238"/>
            <a:ext cx="8412600" cy="48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 dirty="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i="0" u="none" strike="noStrike" cap="none" dirty="0">
                <a:solidFill>
                  <a:srgbClr val="B7B7B7"/>
                </a:solidFill>
                <a:latin typeface="Cambria"/>
                <a:ea typeface="Cambria"/>
                <a:cs typeface="Cambria"/>
                <a:sym typeface="Cambria"/>
              </a:rPr>
              <a:t>Step 1:</a:t>
            </a:r>
            <a:r>
              <a:rPr lang="en" sz="2400" b="0" i="0" u="none" strike="noStrike" cap="none" dirty="0">
                <a:solidFill>
                  <a:srgbClr val="B7B7B7"/>
                </a:solidFill>
                <a:latin typeface="Cambria"/>
                <a:ea typeface="Cambria"/>
                <a:cs typeface="Cambria"/>
                <a:sym typeface="Cambria"/>
              </a:rPr>
              <a:t> Rubric design → </a:t>
            </a:r>
            <a:r>
              <a:rPr lang="en" sz="2400" b="1" i="0" u="none" strike="noStrike" cap="none" dirty="0">
                <a:solidFill>
                  <a:srgbClr val="B7B7B7"/>
                </a:solidFill>
                <a:latin typeface="Courier New"/>
                <a:ea typeface="Courier New"/>
                <a:cs typeface="Courier New"/>
                <a:sym typeface="Courier New"/>
              </a:rPr>
              <a:t>Rubrik</a:t>
            </a:r>
            <a:endParaRPr sz="1400" b="0" i="0" u="none" strike="noStrike" cap="none" dirty="0">
              <a:solidFill>
                <a:srgbClr val="B7B7B7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Font typeface="Cambria"/>
              <a:buChar char="-"/>
            </a:pPr>
            <a:r>
              <a:rPr lang="en" sz="1800" dirty="0">
                <a:solidFill>
                  <a:srgbClr val="B7B7B7"/>
                </a:solidFill>
                <a:latin typeface="Cambria"/>
                <a:ea typeface="Cambria"/>
                <a:cs typeface="Cambria"/>
                <a:sym typeface="Cambria"/>
              </a:rPr>
              <a:t>Explanation types (hierarchical and nested)</a:t>
            </a:r>
            <a:endParaRPr sz="1800" dirty="0">
              <a:solidFill>
                <a:srgbClr val="B7B7B7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9144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Font typeface="Cambria"/>
              <a:buChar char="-"/>
            </a:pPr>
            <a:r>
              <a:rPr lang="en" sz="1800" dirty="0">
                <a:solidFill>
                  <a:srgbClr val="B7B7B7"/>
                </a:solidFill>
                <a:latin typeface="Cambria"/>
                <a:ea typeface="Cambria"/>
                <a:cs typeface="Cambria"/>
                <a:sym typeface="Cambria"/>
              </a:rPr>
              <a:t>Quality dimensions</a:t>
            </a:r>
          </a:p>
          <a:p>
            <a:pPr marL="9144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Font typeface="Cambria"/>
              <a:buChar char="-"/>
            </a:pPr>
            <a:endParaRPr sz="1800" dirty="0">
              <a:solidFill>
                <a:srgbClr val="B7B7B7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Step 2:</a:t>
            </a:r>
            <a:r>
              <a:rPr lang="en" sz="2400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Rubric validation → </a:t>
            </a:r>
            <a:r>
              <a:rPr lang="en" sz="2400" b="1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CUBE dataset</a:t>
            </a:r>
            <a:endParaRPr sz="2400" b="1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1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1" dirty="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9144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914400" marR="0" lvl="1" indent="-2286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DC"/>
              </a:buClr>
              <a:buSzPts val="1600"/>
              <a:buFont typeface="Noto Sans Symbols"/>
              <a:buNone/>
            </a:pPr>
            <a:endParaRPr sz="2400" b="0" i="0" u="none" strike="noStrike" cap="none" dirty="0">
              <a:solidFill>
                <a:srgbClr val="0000DC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Nunito Light"/>
              <a:ea typeface="Nunito Light"/>
              <a:cs typeface="Nunito Light"/>
              <a:sym typeface="Nunito Ligh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Nunito Light"/>
              <a:ea typeface="Nunito Light"/>
              <a:cs typeface="Nunito Light"/>
              <a:sym typeface="Nunito Light"/>
            </a:endParaRPr>
          </a:p>
        </p:txBody>
      </p:sp>
      <p:cxnSp>
        <p:nvCxnSpPr>
          <p:cNvPr id="375" name="Google Shape;375;g362a475d704_0_111"/>
          <p:cNvCxnSpPr/>
          <p:nvPr/>
        </p:nvCxnSpPr>
        <p:spPr>
          <a:xfrm>
            <a:off x="819025" y="2110950"/>
            <a:ext cx="0" cy="932100"/>
          </a:xfrm>
          <a:prstGeom prst="straightConnector1">
            <a:avLst/>
          </a:prstGeom>
          <a:noFill/>
          <a:ln w="381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7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15"/>
          <p:cNvSpPr txBox="1"/>
          <p:nvPr/>
        </p:nvSpPr>
        <p:spPr>
          <a:xfrm>
            <a:off x="434550" y="30431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" sz="3000" b="1" i="0" u="none" strike="noStrike" cap="non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Methodology: Step 2</a:t>
            </a:r>
            <a:endParaRPr sz="2100" b="1" i="0" u="none" strike="noStrike" cap="non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381" name="Google Shape;381;p15"/>
          <p:cNvSpPr/>
          <p:nvPr/>
        </p:nvSpPr>
        <p:spPr>
          <a:xfrm>
            <a:off x="240125" y="304325"/>
            <a:ext cx="147600" cy="614400"/>
          </a:xfrm>
          <a:prstGeom prst="roundRect">
            <a:avLst>
              <a:gd name="adj" fmla="val 16667"/>
            </a:avLst>
          </a:prstGeom>
          <a:solidFill>
            <a:srgbClr val="F116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rgbClr val="FF00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15"/>
          <p:cNvSpPr/>
          <p:nvPr/>
        </p:nvSpPr>
        <p:spPr>
          <a:xfrm>
            <a:off x="8348100" y="6373475"/>
            <a:ext cx="484200" cy="372300"/>
          </a:xfrm>
          <a:prstGeom prst="roundRect">
            <a:avLst>
              <a:gd name="adj" fmla="val 16667"/>
            </a:avLst>
          </a:prstGeom>
          <a:solidFill>
            <a:srgbClr val="F116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17</a:t>
            </a:r>
            <a:endParaRPr sz="1400" b="0" i="0" u="none" strike="noStrike" cap="non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383" name="Google Shape;383;p15"/>
          <p:cNvSpPr/>
          <p:nvPr/>
        </p:nvSpPr>
        <p:spPr>
          <a:xfrm>
            <a:off x="398700" y="1027625"/>
            <a:ext cx="8346600" cy="10371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15"/>
          <p:cNvSpPr txBox="1"/>
          <p:nvPr/>
        </p:nvSpPr>
        <p:spPr>
          <a:xfrm>
            <a:off x="510748" y="1305875"/>
            <a:ext cx="2049900" cy="4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1">
                <a:solidFill>
                  <a:srgbClr val="F1160A"/>
                </a:solidFill>
                <a:latin typeface="Cambria"/>
                <a:ea typeface="Cambria"/>
                <a:cs typeface="Cambria"/>
                <a:sym typeface="Cambria"/>
              </a:rPr>
              <a:t>1. </a:t>
            </a:r>
            <a:r>
              <a:rPr lang="en" sz="1800" b="1" i="0" u="none" strike="noStrike" cap="none">
                <a:solidFill>
                  <a:srgbClr val="F1160A"/>
                </a:solidFill>
                <a:latin typeface="Cambria"/>
                <a:ea typeface="Cambria"/>
                <a:cs typeface="Cambria"/>
                <a:sym typeface="Cambria"/>
              </a:rPr>
              <a:t>Data collection</a:t>
            </a:r>
            <a:endParaRPr sz="1000" b="1" i="0" u="none" strike="noStrike" cap="none">
              <a:solidFill>
                <a:srgbClr val="F1160A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385" name="Google Shape;385;p15"/>
          <p:cNvSpPr txBox="1"/>
          <p:nvPr/>
        </p:nvSpPr>
        <p:spPr>
          <a:xfrm>
            <a:off x="3182200" y="1305863"/>
            <a:ext cx="1076400" cy="4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rPr>
              <a:t>4 Tasks</a:t>
            </a:r>
            <a:endParaRPr sz="1800" b="1">
              <a:solidFill>
                <a:srgbClr val="FF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386" name="Google Shape;386;p15"/>
          <p:cNvSpPr txBox="1"/>
          <p:nvPr/>
        </p:nvSpPr>
        <p:spPr>
          <a:xfrm>
            <a:off x="4637400" y="1027625"/>
            <a:ext cx="4194900" cy="98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Font typeface="Cambria"/>
              <a:buChar char="-"/>
            </a:pPr>
            <a:r>
              <a:rPr lang="en" sz="1400" b="1" i="0" u="none" strike="noStrike" cap="none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rPr>
              <a:t>C</a:t>
            </a:r>
            <a:r>
              <a:rPr lang="en" sz="1400" b="0" i="0" u="none" strike="noStrike" cap="none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rPr>
              <a:t>ommonsense Reasoning </a:t>
            </a:r>
            <a:endParaRPr>
              <a:solidFill>
                <a:srgbClr val="FF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Font typeface="Cambria"/>
              <a:buChar char="-"/>
            </a:pPr>
            <a:r>
              <a:rPr lang="en" sz="1400" b="1" i="0" u="none" strike="noStrike" cap="none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rPr>
              <a:t>U</a:t>
            </a:r>
            <a:r>
              <a:rPr lang="en" sz="1400" b="0" i="0" u="none" strike="noStrike" cap="none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rPr>
              <a:t>sual Fallacy Detection </a:t>
            </a:r>
            <a:endParaRPr>
              <a:solidFill>
                <a:srgbClr val="FF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Font typeface="Cambria"/>
              <a:buChar char="-"/>
            </a:pPr>
            <a:r>
              <a:rPr lang="en" sz="1400" b="1" i="0" u="none" strike="noStrike" cap="none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rPr>
              <a:t>B</a:t>
            </a:r>
            <a:r>
              <a:rPr lang="en" sz="1400" b="0" i="0" u="none" strike="noStrike" cap="none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rPr>
              <a:t>asic Reading Comprehension </a:t>
            </a:r>
            <a:endParaRPr>
              <a:solidFill>
                <a:srgbClr val="FF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Font typeface="Cambria"/>
              <a:buChar char="-"/>
            </a:pPr>
            <a:r>
              <a:rPr lang="en" sz="1400" b="1" i="0" u="none" strike="noStrike" cap="none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rPr>
              <a:t>E</a:t>
            </a:r>
            <a:r>
              <a:rPr lang="en" sz="1400" b="0" i="0" u="none" strike="noStrike" cap="none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rPr>
              <a:t>ssay scoring </a:t>
            </a:r>
            <a:endParaRPr sz="1400" b="0" i="0" u="none" strike="noStrike" cap="none">
              <a:solidFill>
                <a:srgbClr val="FF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3" grpId="0" animBg="1"/>
      <p:bldP spid="384" grpId="0"/>
      <p:bldP spid="385" grpId="0"/>
      <p:bldP spid="38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362a475d704_0_123"/>
          <p:cNvSpPr txBox="1"/>
          <p:nvPr/>
        </p:nvSpPr>
        <p:spPr>
          <a:xfrm>
            <a:off x="434550" y="30431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" sz="3000" b="1" i="0" u="none" strike="noStrike" cap="non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Methodology: Step 2</a:t>
            </a:r>
            <a:endParaRPr sz="2100" b="1" i="0" u="none" strike="noStrike" cap="non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416" name="Google Shape;416;g362a475d704_0_123"/>
          <p:cNvSpPr/>
          <p:nvPr/>
        </p:nvSpPr>
        <p:spPr>
          <a:xfrm>
            <a:off x="240125" y="304325"/>
            <a:ext cx="147600" cy="614400"/>
          </a:xfrm>
          <a:prstGeom prst="roundRect">
            <a:avLst>
              <a:gd name="adj" fmla="val 16667"/>
            </a:avLst>
          </a:prstGeom>
          <a:solidFill>
            <a:srgbClr val="F116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rgbClr val="FF00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g362a475d704_0_123"/>
          <p:cNvSpPr/>
          <p:nvPr/>
        </p:nvSpPr>
        <p:spPr>
          <a:xfrm>
            <a:off x="8348100" y="6373475"/>
            <a:ext cx="484200" cy="372300"/>
          </a:xfrm>
          <a:prstGeom prst="roundRect">
            <a:avLst>
              <a:gd name="adj" fmla="val 16667"/>
            </a:avLst>
          </a:prstGeom>
          <a:solidFill>
            <a:srgbClr val="F116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r>
              <a:rPr lang="en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9</a:t>
            </a:r>
            <a:endParaRPr sz="1400" b="0" i="0" u="none" strike="noStrike" cap="non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418" name="Google Shape;418;g362a475d704_0_123"/>
          <p:cNvSpPr/>
          <p:nvPr/>
        </p:nvSpPr>
        <p:spPr>
          <a:xfrm>
            <a:off x="398700" y="1027625"/>
            <a:ext cx="8346600" cy="10371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g362a475d704_0_123"/>
          <p:cNvSpPr/>
          <p:nvPr/>
        </p:nvSpPr>
        <p:spPr>
          <a:xfrm>
            <a:off x="398700" y="2073525"/>
            <a:ext cx="8346600" cy="13050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g362a475d704_0_123"/>
          <p:cNvSpPr txBox="1"/>
          <p:nvPr/>
        </p:nvSpPr>
        <p:spPr>
          <a:xfrm>
            <a:off x="510748" y="1305875"/>
            <a:ext cx="2049900" cy="4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1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1. </a:t>
            </a:r>
            <a:r>
              <a:rPr lang="en" sz="18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Data collection</a:t>
            </a:r>
            <a:endParaRPr sz="1000" b="1" i="0" u="none" strike="noStrike" cap="non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421" name="Google Shape;421;g362a475d704_0_123"/>
          <p:cNvSpPr txBox="1"/>
          <p:nvPr/>
        </p:nvSpPr>
        <p:spPr>
          <a:xfrm>
            <a:off x="3182200" y="1305863"/>
            <a:ext cx="1076400" cy="4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4 Tasks</a:t>
            </a:r>
            <a:endParaRPr sz="1800" b="1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422" name="Google Shape;422;g362a475d704_0_123"/>
          <p:cNvSpPr txBox="1"/>
          <p:nvPr/>
        </p:nvSpPr>
        <p:spPr>
          <a:xfrm>
            <a:off x="510749" y="2358875"/>
            <a:ext cx="1973700" cy="4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1">
                <a:solidFill>
                  <a:srgbClr val="F1160A"/>
                </a:solidFill>
                <a:latin typeface="Cambria"/>
                <a:ea typeface="Cambria"/>
                <a:cs typeface="Cambria"/>
                <a:sym typeface="Cambria"/>
              </a:rPr>
              <a:t>2. </a:t>
            </a:r>
            <a:r>
              <a:rPr lang="en" sz="1800" b="1" i="0" u="none" strike="noStrike" cap="none">
                <a:solidFill>
                  <a:srgbClr val="F1160A"/>
                </a:solidFill>
                <a:latin typeface="Cambria"/>
                <a:ea typeface="Cambria"/>
                <a:cs typeface="Cambria"/>
                <a:sym typeface="Cambria"/>
              </a:rPr>
              <a:t>Explanation Generation</a:t>
            </a:r>
            <a:endParaRPr sz="1000" b="1" i="0" u="none" strike="noStrike" cap="none">
              <a:solidFill>
                <a:srgbClr val="F1160A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423" name="Google Shape;423;g362a475d704_0_123"/>
          <p:cNvSpPr txBox="1"/>
          <p:nvPr/>
        </p:nvSpPr>
        <p:spPr>
          <a:xfrm>
            <a:off x="3967352" y="2339824"/>
            <a:ext cx="1426500" cy="33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1" i="0" u="none" strike="noStrike" cap="none">
                <a:solidFill>
                  <a:srgbClr val="F1160A"/>
                </a:solidFill>
                <a:latin typeface="Cambria"/>
                <a:ea typeface="Cambria"/>
                <a:cs typeface="Cambria"/>
                <a:sym typeface="Cambria"/>
              </a:rPr>
              <a:t>6 LLM</a:t>
            </a:r>
            <a:r>
              <a:rPr lang="en" sz="1800" b="1">
                <a:solidFill>
                  <a:srgbClr val="F1160A"/>
                </a:solidFill>
                <a:latin typeface="Cambria"/>
                <a:ea typeface="Cambria"/>
                <a:cs typeface="Cambria"/>
                <a:sym typeface="Cambria"/>
              </a:rPr>
              <a:t>s</a:t>
            </a:r>
            <a:br>
              <a:rPr lang="en" sz="1800" b="0" i="0" u="none" strike="noStrike" cap="none">
                <a:solidFill>
                  <a:srgbClr val="F1160A"/>
                </a:solidFill>
                <a:latin typeface="Cambria"/>
                <a:ea typeface="Cambria"/>
                <a:cs typeface="Cambria"/>
                <a:sym typeface="Cambria"/>
              </a:rPr>
            </a:br>
            <a:r>
              <a:rPr lang="en" sz="1000" b="0" i="0" u="none" strike="noStrike" cap="none">
                <a:solidFill>
                  <a:srgbClr val="F1160A"/>
                </a:solidFill>
                <a:latin typeface="Cambria"/>
                <a:ea typeface="Cambria"/>
                <a:cs typeface="Cambria"/>
                <a:sym typeface="Cambria"/>
              </a:rPr>
              <a:t>(4 open, 2 closed)</a:t>
            </a:r>
            <a:endParaRPr sz="1000" b="0" i="0" u="none" strike="noStrike" cap="none">
              <a:solidFill>
                <a:srgbClr val="F1160A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424" name="Google Shape;424;g362a475d704_0_123"/>
          <p:cNvSpPr txBox="1"/>
          <p:nvPr/>
        </p:nvSpPr>
        <p:spPr>
          <a:xfrm>
            <a:off x="6901636" y="2381049"/>
            <a:ext cx="1759800" cy="4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1" i="0" u="none" strike="noStrike" cap="none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rPr>
              <a:t>7 annotators</a:t>
            </a:r>
            <a:br>
              <a:rPr lang="en" sz="1800" b="1" i="0" u="none" strike="noStrike" cap="none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rPr>
            </a:br>
            <a:r>
              <a:rPr lang="en" sz="1000" b="0" i="0" u="none" strike="noStrike" cap="none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rPr>
              <a:t>(4 contractors, 3 experts)</a:t>
            </a:r>
            <a:endParaRPr sz="1000" b="0" i="0" u="none" strike="noStrike" cap="none">
              <a:solidFill>
                <a:srgbClr val="FF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425" name="Google Shape;425;g362a475d704_0_123"/>
          <p:cNvSpPr/>
          <p:nvPr/>
        </p:nvSpPr>
        <p:spPr>
          <a:xfrm>
            <a:off x="5340013" y="2220725"/>
            <a:ext cx="1590300" cy="9882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8575" cap="flat" cmpd="sng">
            <a:solidFill>
              <a:srgbClr val="F1160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g362a475d704_0_123"/>
          <p:cNvSpPr/>
          <p:nvPr/>
        </p:nvSpPr>
        <p:spPr>
          <a:xfrm>
            <a:off x="2301550" y="2208375"/>
            <a:ext cx="1758600" cy="10371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8575" cap="flat" cmpd="sng">
            <a:solidFill>
              <a:srgbClr val="F1160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7" name="Google Shape;427;g362a475d704_0_123"/>
          <p:cNvPicPr preferRelativeResize="0"/>
          <p:nvPr/>
        </p:nvPicPr>
        <p:blipFill rotWithShape="1">
          <a:blip r:embed="rId4">
            <a:alphaModFix/>
          </a:blip>
          <a:srcRect l="4006" t="3155" r="69603" b="71482"/>
          <a:stretch/>
        </p:blipFill>
        <p:spPr>
          <a:xfrm>
            <a:off x="5430679" y="2371928"/>
            <a:ext cx="818306" cy="7178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28" name="Google Shape;428;g362a475d704_0_123"/>
          <p:cNvPicPr preferRelativeResize="0"/>
          <p:nvPr/>
        </p:nvPicPr>
        <p:blipFill rotWithShape="1">
          <a:blip r:embed="rId4">
            <a:alphaModFix/>
          </a:blip>
          <a:srcRect l="6939" t="38185" r="72721" b="36452"/>
          <a:stretch/>
        </p:blipFill>
        <p:spPr>
          <a:xfrm>
            <a:off x="6285813" y="2410503"/>
            <a:ext cx="562875" cy="64070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29" name="Google Shape;429;g362a475d704_0_123"/>
          <p:cNvGrpSpPr/>
          <p:nvPr/>
        </p:nvGrpSpPr>
        <p:grpSpPr>
          <a:xfrm>
            <a:off x="2236230" y="2208386"/>
            <a:ext cx="1731115" cy="988126"/>
            <a:chOff x="183584" y="2765796"/>
            <a:chExt cx="2135597" cy="1292006"/>
          </a:xfrm>
        </p:grpSpPr>
        <p:pic>
          <p:nvPicPr>
            <p:cNvPr id="430" name="Google Shape;430;g362a475d704_0_123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1715115" y="2850333"/>
              <a:ext cx="597957" cy="6383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31" name="Google Shape;431;g362a475d704_0_123" descr="Gemma models overview | Google AI for Developers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989326" y="2765796"/>
              <a:ext cx="765968" cy="68972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32" name="Google Shape;432;g362a475d704_0_123"/>
            <p:cNvPicPr preferRelativeResize="0"/>
            <p:nvPr/>
          </p:nvPicPr>
          <p:blipFill rotWithShape="1">
            <a:blip r:embed="rId7">
              <a:alphaModFix/>
            </a:blip>
            <a:srcRect l="34474" t="27407" r="32798" b="26700"/>
            <a:stretch/>
          </p:blipFill>
          <p:spPr>
            <a:xfrm>
              <a:off x="342674" y="3432247"/>
              <a:ext cx="753733" cy="6255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33" name="Google Shape;433;g362a475d704_0_123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1789353" y="3480112"/>
              <a:ext cx="529828" cy="52982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34" name="Google Shape;434;g362a475d704_0_123"/>
            <p:cNvPicPr preferRelativeResize="0"/>
            <p:nvPr/>
          </p:nvPicPr>
          <p:blipFill rotWithShape="1">
            <a:blip r:embed="rId9">
              <a:alphaModFix/>
            </a:blip>
            <a:srcRect l="17247" t="15409" r="17644" b="10074"/>
            <a:stretch/>
          </p:blipFill>
          <p:spPr>
            <a:xfrm>
              <a:off x="1099016" y="3432243"/>
              <a:ext cx="546588" cy="625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35" name="Google Shape;435;g362a475d704_0_123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183584" y="2826482"/>
              <a:ext cx="1071913" cy="68602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36" name="Google Shape;436;g362a475d704_0_123"/>
          <p:cNvSpPr txBox="1"/>
          <p:nvPr/>
        </p:nvSpPr>
        <p:spPr>
          <a:xfrm>
            <a:off x="3380646" y="2538376"/>
            <a:ext cx="6795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0" i="0" u="none" strike="noStrike" cap="none">
                <a:solidFill>
                  <a:srgbClr val="F1160A"/>
                </a:solidFill>
                <a:latin typeface="Cambria"/>
                <a:ea typeface="Cambria"/>
                <a:cs typeface="Cambria"/>
                <a:sym typeface="Cambria"/>
              </a:rPr>
              <a:t>+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g362a475d704_0_123"/>
          <p:cNvSpPr txBox="1"/>
          <p:nvPr/>
        </p:nvSpPr>
        <p:spPr>
          <a:xfrm>
            <a:off x="4637400" y="1027625"/>
            <a:ext cx="4194900" cy="98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mbria"/>
              <a:buChar char="-"/>
            </a:pPr>
            <a:r>
              <a:rPr lang="en" sz="1400" b="1" i="0" u="none" strike="noStrike" cap="none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C</a:t>
            </a:r>
            <a:r>
              <a:rPr lang="en" sz="1400" b="0" i="0" u="none" strike="noStrike" cap="none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ommonsense Reasoning </a:t>
            </a:r>
            <a:endParaRPr dirty="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mbria"/>
              <a:buChar char="-"/>
            </a:pPr>
            <a:r>
              <a:rPr lang="en" sz="1400" b="1" i="0" u="none" strike="noStrike" cap="none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U</a:t>
            </a:r>
            <a:r>
              <a:rPr lang="en" sz="1400" b="0" i="0" u="none" strike="noStrike" cap="none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sual Fallacy Detection</a:t>
            </a:r>
            <a:endParaRPr dirty="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mbria"/>
              <a:buChar char="-"/>
            </a:pPr>
            <a:r>
              <a:rPr lang="en" sz="1400" b="1" i="0" u="none" strike="noStrike" cap="none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B</a:t>
            </a:r>
            <a:r>
              <a:rPr lang="en" sz="1400" b="0" i="0" u="none" strike="noStrike" cap="none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asic Reading Comprehension </a:t>
            </a:r>
            <a:endParaRPr dirty="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mbria"/>
              <a:buChar char="-"/>
            </a:pPr>
            <a:r>
              <a:rPr lang="en" sz="1400" b="1" i="0" u="none" strike="noStrike" cap="none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E</a:t>
            </a:r>
            <a:r>
              <a:rPr lang="en" sz="1400" b="0" i="0" u="none" strike="noStrike" cap="none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ssay scoring </a:t>
            </a:r>
            <a:endParaRPr sz="1400" b="0" i="0" u="none" strike="noStrike" cap="none" dirty="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" grpId="0" animBg="1"/>
      <p:bldP spid="422" grpId="0"/>
      <p:bldP spid="423" grpId="0"/>
      <p:bldP spid="424" grpId="0"/>
      <p:bldP spid="425" grpId="0" animBg="1"/>
      <p:bldP spid="426" grpId="0" animBg="1"/>
      <p:bldP spid="436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g362a475d704_0_159"/>
          <p:cNvSpPr txBox="1"/>
          <p:nvPr/>
        </p:nvSpPr>
        <p:spPr>
          <a:xfrm>
            <a:off x="434550" y="30431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" sz="3000" b="1" i="0" u="none" strike="noStrike" cap="non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Methodology: Step 2</a:t>
            </a:r>
            <a:endParaRPr sz="2100" b="1" i="0" u="none" strike="noStrike" cap="non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443" name="Google Shape;443;g362a475d704_0_159"/>
          <p:cNvSpPr/>
          <p:nvPr/>
        </p:nvSpPr>
        <p:spPr>
          <a:xfrm>
            <a:off x="240125" y="304325"/>
            <a:ext cx="147600" cy="614400"/>
          </a:xfrm>
          <a:prstGeom prst="roundRect">
            <a:avLst>
              <a:gd name="adj" fmla="val 16667"/>
            </a:avLst>
          </a:prstGeom>
          <a:solidFill>
            <a:srgbClr val="F116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rgbClr val="FF00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g362a475d704_0_159"/>
          <p:cNvSpPr/>
          <p:nvPr/>
        </p:nvSpPr>
        <p:spPr>
          <a:xfrm>
            <a:off x="8348100" y="6373475"/>
            <a:ext cx="484200" cy="372300"/>
          </a:xfrm>
          <a:prstGeom prst="roundRect">
            <a:avLst>
              <a:gd name="adj" fmla="val 16667"/>
            </a:avLst>
          </a:prstGeom>
          <a:solidFill>
            <a:srgbClr val="F116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r>
              <a:rPr lang="en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9</a:t>
            </a:r>
            <a:endParaRPr sz="1400" b="0" i="0" u="none" strike="noStrike" cap="non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445" name="Google Shape;445;g362a475d704_0_159"/>
          <p:cNvSpPr/>
          <p:nvPr/>
        </p:nvSpPr>
        <p:spPr>
          <a:xfrm>
            <a:off x="398700" y="1027625"/>
            <a:ext cx="8346600" cy="10371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g362a475d704_0_159"/>
          <p:cNvSpPr/>
          <p:nvPr/>
        </p:nvSpPr>
        <p:spPr>
          <a:xfrm>
            <a:off x="398700" y="2073525"/>
            <a:ext cx="8346600" cy="1305000"/>
          </a:xfrm>
          <a:prstGeom prst="roundRect">
            <a:avLst>
              <a:gd name="adj" fmla="val 16667"/>
            </a:avLst>
          </a:prstGeom>
          <a:solidFill>
            <a:srgbClr val="EFEFE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g362a475d704_0_159"/>
          <p:cNvSpPr txBox="1"/>
          <p:nvPr/>
        </p:nvSpPr>
        <p:spPr>
          <a:xfrm>
            <a:off x="510748" y="1305875"/>
            <a:ext cx="2049900" cy="4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1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1. </a:t>
            </a:r>
            <a:r>
              <a:rPr lang="en" sz="18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Data collection</a:t>
            </a:r>
            <a:endParaRPr sz="1000" b="1" i="0" u="none" strike="noStrike" cap="non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448" name="Google Shape;448;g362a475d704_0_159"/>
          <p:cNvSpPr txBox="1"/>
          <p:nvPr/>
        </p:nvSpPr>
        <p:spPr>
          <a:xfrm>
            <a:off x="510749" y="2358875"/>
            <a:ext cx="1973700" cy="4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1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2. </a:t>
            </a:r>
            <a:r>
              <a:rPr lang="en" sz="18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Explanation Generation</a:t>
            </a:r>
            <a:endParaRPr sz="1000" b="1" i="0" u="none" strike="noStrike" cap="non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449" name="Google Shape;449;g362a475d704_0_159"/>
          <p:cNvSpPr txBox="1"/>
          <p:nvPr/>
        </p:nvSpPr>
        <p:spPr>
          <a:xfrm>
            <a:off x="3967352" y="2339824"/>
            <a:ext cx="1426500" cy="33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6 LLM</a:t>
            </a:r>
            <a:r>
              <a:rPr lang="en" sz="1800" b="1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</a:t>
            </a:r>
            <a:br>
              <a:rPr lang="en" sz="1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</a:br>
            <a:r>
              <a:rPr lang="en" sz="10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(4 open, 2 closed)</a:t>
            </a:r>
            <a:endParaRPr sz="1000" b="0" i="0" u="none" strike="noStrike" cap="non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450" name="Google Shape;450;g362a475d704_0_159"/>
          <p:cNvSpPr txBox="1"/>
          <p:nvPr/>
        </p:nvSpPr>
        <p:spPr>
          <a:xfrm>
            <a:off x="6901636" y="2381049"/>
            <a:ext cx="1759800" cy="4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7 annotators</a:t>
            </a:r>
            <a:br>
              <a:rPr lang="en" sz="18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</a:br>
            <a:r>
              <a:rPr lang="en" sz="10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(4 contractors, 3 experts)</a:t>
            </a:r>
            <a:endParaRPr sz="1000" b="0" i="0" u="none" strike="noStrike" cap="none">
              <a:solidFill>
                <a:srgbClr val="24767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451" name="Google Shape;451;g362a475d704_0_159"/>
          <p:cNvSpPr/>
          <p:nvPr/>
        </p:nvSpPr>
        <p:spPr>
          <a:xfrm>
            <a:off x="5340013" y="2220725"/>
            <a:ext cx="1590300" cy="9882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g362a475d704_0_159"/>
          <p:cNvSpPr/>
          <p:nvPr/>
        </p:nvSpPr>
        <p:spPr>
          <a:xfrm>
            <a:off x="2301550" y="2208375"/>
            <a:ext cx="1758600" cy="10371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g362a475d704_0_159"/>
          <p:cNvSpPr/>
          <p:nvPr/>
        </p:nvSpPr>
        <p:spPr>
          <a:xfrm>
            <a:off x="893550" y="3400275"/>
            <a:ext cx="7356900" cy="8259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dirty="0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rPr>
              <a:t>1 </a:t>
            </a:r>
            <a:r>
              <a:rPr lang="en" sz="1600" b="0" i="0" u="none" strike="noStrike" cap="none" dirty="0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rPr>
              <a:t>,000 explanations/LLM/task</a:t>
            </a:r>
            <a:r>
              <a:rPr lang="en" sz="1600" dirty="0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en" sz="1600" b="1" i="0" u="none" strike="noStrike" cap="none" dirty="0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rPr>
              <a:t>= 24,000</a:t>
            </a:r>
            <a:endParaRPr sz="1600" b="1" dirty="0">
              <a:solidFill>
                <a:srgbClr val="FF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" sz="1600" dirty="0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rPr>
              <a:t>110 explanations/contractor/task + 110 explanations/expert/tasks 3&amp;4 </a:t>
            </a:r>
            <a:r>
              <a:rPr lang="en" sz="1600" b="1" dirty="0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rPr>
              <a:t>= 2,420</a:t>
            </a:r>
            <a:endParaRPr b="1" i="1" dirty="0">
              <a:solidFill>
                <a:srgbClr val="FF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" sz="1600" b="1" dirty="0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rPr>
              <a:t>Total = 26,420 explanations </a:t>
            </a:r>
            <a:endParaRPr b="1" i="1" dirty="0">
              <a:solidFill>
                <a:srgbClr val="FF0000"/>
              </a:solidFill>
            </a:endParaRPr>
          </a:p>
        </p:txBody>
      </p:sp>
      <p:pic>
        <p:nvPicPr>
          <p:cNvPr id="454" name="Google Shape;454;g362a475d704_0_159"/>
          <p:cNvPicPr preferRelativeResize="0"/>
          <p:nvPr/>
        </p:nvPicPr>
        <p:blipFill rotWithShape="1">
          <a:blip r:embed="rId4">
            <a:alphaModFix/>
          </a:blip>
          <a:srcRect l="4006" t="3155" r="69603" b="71482"/>
          <a:stretch/>
        </p:blipFill>
        <p:spPr>
          <a:xfrm>
            <a:off x="5430679" y="2371928"/>
            <a:ext cx="818306" cy="7178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55" name="Google Shape;455;g362a475d704_0_159"/>
          <p:cNvPicPr preferRelativeResize="0"/>
          <p:nvPr/>
        </p:nvPicPr>
        <p:blipFill rotWithShape="1">
          <a:blip r:embed="rId4">
            <a:alphaModFix/>
          </a:blip>
          <a:srcRect l="6939" t="38185" r="72721" b="36452"/>
          <a:stretch/>
        </p:blipFill>
        <p:spPr>
          <a:xfrm>
            <a:off x="6285813" y="2410503"/>
            <a:ext cx="562875" cy="64070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56" name="Google Shape;456;g362a475d704_0_159"/>
          <p:cNvGrpSpPr/>
          <p:nvPr/>
        </p:nvGrpSpPr>
        <p:grpSpPr>
          <a:xfrm>
            <a:off x="2236230" y="2208386"/>
            <a:ext cx="1731115" cy="988126"/>
            <a:chOff x="183584" y="2765796"/>
            <a:chExt cx="2135597" cy="1292006"/>
          </a:xfrm>
        </p:grpSpPr>
        <p:pic>
          <p:nvPicPr>
            <p:cNvPr id="457" name="Google Shape;457;g362a475d704_0_159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1715115" y="2850333"/>
              <a:ext cx="597957" cy="6383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58" name="Google Shape;458;g362a475d704_0_159" descr="Gemma models overview | Google AI for Developers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989326" y="2765796"/>
              <a:ext cx="765968" cy="68972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59" name="Google Shape;459;g362a475d704_0_159"/>
            <p:cNvPicPr preferRelativeResize="0"/>
            <p:nvPr/>
          </p:nvPicPr>
          <p:blipFill rotWithShape="1">
            <a:blip r:embed="rId7">
              <a:alphaModFix/>
            </a:blip>
            <a:srcRect l="34474" t="27407" r="32798" b="26700"/>
            <a:stretch/>
          </p:blipFill>
          <p:spPr>
            <a:xfrm>
              <a:off x="342674" y="3432247"/>
              <a:ext cx="753733" cy="6255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60" name="Google Shape;460;g362a475d704_0_159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1789353" y="3480112"/>
              <a:ext cx="529828" cy="52982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61" name="Google Shape;461;g362a475d704_0_159"/>
            <p:cNvPicPr preferRelativeResize="0"/>
            <p:nvPr/>
          </p:nvPicPr>
          <p:blipFill rotWithShape="1">
            <a:blip r:embed="rId9">
              <a:alphaModFix/>
            </a:blip>
            <a:srcRect l="17247" t="15409" r="17644" b="10074"/>
            <a:stretch/>
          </p:blipFill>
          <p:spPr>
            <a:xfrm>
              <a:off x="1099016" y="3432243"/>
              <a:ext cx="546588" cy="625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62" name="Google Shape;462;g362a475d704_0_159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183584" y="2826482"/>
              <a:ext cx="1071913" cy="68602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63" name="Google Shape;463;g362a475d704_0_159"/>
          <p:cNvSpPr txBox="1"/>
          <p:nvPr/>
        </p:nvSpPr>
        <p:spPr>
          <a:xfrm>
            <a:off x="3380646" y="2538376"/>
            <a:ext cx="6795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+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" name="Google Shape;465;g362a475d704_0_159"/>
          <p:cNvSpPr txBox="1"/>
          <p:nvPr/>
        </p:nvSpPr>
        <p:spPr>
          <a:xfrm>
            <a:off x="3182200" y="1305863"/>
            <a:ext cx="1076400" cy="4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4 Tasks</a:t>
            </a:r>
            <a:endParaRPr sz="1800" b="1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" name="Google Shape;437;g362a475d704_0_123">
            <a:extLst>
              <a:ext uri="{FF2B5EF4-FFF2-40B4-BE49-F238E27FC236}">
                <a16:creationId xmlns:a16="http://schemas.microsoft.com/office/drawing/2014/main" id="{F23EC005-3F3F-0EA3-BD32-A5E5BBB85FAE}"/>
              </a:ext>
            </a:extLst>
          </p:cNvPr>
          <p:cNvSpPr txBox="1"/>
          <p:nvPr/>
        </p:nvSpPr>
        <p:spPr>
          <a:xfrm>
            <a:off x="4637400" y="1027625"/>
            <a:ext cx="4194900" cy="98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mbria"/>
              <a:buChar char="-"/>
            </a:pPr>
            <a:r>
              <a:rPr lang="en" sz="1400" b="1" i="0" u="none" strike="noStrike" cap="none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C</a:t>
            </a:r>
            <a:r>
              <a:rPr lang="en" sz="1400" b="0" i="0" u="none" strike="noStrike" cap="none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ommonsense Reasoning </a:t>
            </a:r>
            <a:endParaRPr dirty="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mbria"/>
              <a:buChar char="-"/>
            </a:pPr>
            <a:r>
              <a:rPr lang="en" sz="1400" b="1" i="0" u="none" strike="noStrike" cap="none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U</a:t>
            </a:r>
            <a:r>
              <a:rPr lang="en" sz="1400" b="0" i="0" u="none" strike="noStrike" cap="none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sual Fallacy Detection</a:t>
            </a:r>
            <a:endParaRPr dirty="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mbria"/>
              <a:buChar char="-"/>
            </a:pPr>
            <a:r>
              <a:rPr lang="en" sz="1400" b="1" i="0" u="none" strike="noStrike" cap="none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B</a:t>
            </a:r>
            <a:r>
              <a:rPr lang="en" sz="1400" b="0" i="0" u="none" strike="noStrike" cap="none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asic Reading Comprehension </a:t>
            </a:r>
            <a:endParaRPr dirty="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mbria"/>
              <a:buChar char="-"/>
            </a:pPr>
            <a:r>
              <a:rPr lang="en" sz="1400" b="1" i="0" u="none" strike="noStrike" cap="none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E</a:t>
            </a:r>
            <a:r>
              <a:rPr lang="en" sz="1400" b="0" i="0" u="none" strike="noStrike" cap="none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ssay scoring </a:t>
            </a:r>
            <a:endParaRPr sz="1400" b="0" i="0" u="none" strike="noStrike" cap="none" dirty="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3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g362a475d704_0_195"/>
          <p:cNvSpPr txBox="1"/>
          <p:nvPr/>
        </p:nvSpPr>
        <p:spPr>
          <a:xfrm>
            <a:off x="434550" y="30431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" sz="3000" b="1" i="0" u="none" strike="noStrike" cap="non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Methodology: Step 2</a:t>
            </a:r>
            <a:endParaRPr sz="2100" b="1" i="0" u="none" strike="noStrike" cap="non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471" name="Google Shape;471;g362a475d704_0_195"/>
          <p:cNvSpPr/>
          <p:nvPr/>
        </p:nvSpPr>
        <p:spPr>
          <a:xfrm>
            <a:off x="240125" y="304325"/>
            <a:ext cx="147600" cy="614400"/>
          </a:xfrm>
          <a:prstGeom prst="roundRect">
            <a:avLst>
              <a:gd name="adj" fmla="val 16667"/>
            </a:avLst>
          </a:prstGeom>
          <a:solidFill>
            <a:srgbClr val="F116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rgbClr val="FF00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2" name="Google Shape;472;g362a475d704_0_195"/>
          <p:cNvSpPr/>
          <p:nvPr/>
        </p:nvSpPr>
        <p:spPr>
          <a:xfrm>
            <a:off x="8348100" y="6373475"/>
            <a:ext cx="484200" cy="372300"/>
          </a:xfrm>
          <a:prstGeom prst="roundRect">
            <a:avLst>
              <a:gd name="adj" fmla="val 16667"/>
            </a:avLst>
          </a:prstGeom>
          <a:solidFill>
            <a:srgbClr val="F116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r>
              <a:rPr lang="en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9</a:t>
            </a:r>
            <a:endParaRPr sz="1400" b="0" i="0" u="none" strike="noStrike" cap="non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473" name="Google Shape;473;g362a475d704_0_195"/>
          <p:cNvSpPr/>
          <p:nvPr/>
        </p:nvSpPr>
        <p:spPr>
          <a:xfrm>
            <a:off x="398700" y="1027625"/>
            <a:ext cx="8346600" cy="10371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" name="Google Shape;474;g362a475d704_0_195"/>
          <p:cNvSpPr/>
          <p:nvPr/>
        </p:nvSpPr>
        <p:spPr>
          <a:xfrm>
            <a:off x="398700" y="2073525"/>
            <a:ext cx="8346600" cy="1305000"/>
          </a:xfrm>
          <a:prstGeom prst="roundRect">
            <a:avLst>
              <a:gd name="adj" fmla="val 16667"/>
            </a:avLst>
          </a:prstGeom>
          <a:solidFill>
            <a:srgbClr val="EFEFE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5" name="Google Shape;475;g362a475d704_0_195"/>
          <p:cNvSpPr/>
          <p:nvPr/>
        </p:nvSpPr>
        <p:spPr>
          <a:xfrm>
            <a:off x="411250" y="4247925"/>
            <a:ext cx="8346600" cy="11175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6" name="Google Shape;476;g362a475d704_0_195"/>
          <p:cNvSpPr txBox="1"/>
          <p:nvPr/>
        </p:nvSpPr>
        <p:spPr>
          <a:xfrm>
            <a:off x="510748" y="1305875"/>
            <a:ext cx="2049900" cy="4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1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1. </a:t>
            </a:r>
            <a:r>
              <a:rPr lang="en" sz="18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Data collection</a:t>
            </a:r>
            <a:endParaRPr sz="1000" b="1" i="0" u="none" strike="noStrike" cap="non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477" name="Google Shape;477;g362a475d704_0_195"/>
          <p:cNvSpPr txBox="1"/>
          <p:nvPr/>
        </p:nvSpPr>
        <p:spPr>
          <a:xfrm>
            <a:off x="510749" y="2358875"/>
            <a:ext cx="1973700" cy="4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1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2. </a:t>
            </a:r>
            <a:r>
              <a:rPr lang="en" sz="18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Explanation Generation</a:t>
            </a:r>
            <a:endParaRPr sz="1000" b="1" i="0" u="none" strike="noStrike" cap="non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478" name="Google Shape;478;g362a475d704_0_195"/>
          <p:cNvSpPr txBox="1"/>
          <p:nvPr/>
        </p:nvSpPr>
        <p:spPr>
          <a:xfrm>
            <a:off x="3967352" y="2339824"/>
            <a:ext cx="1426500" cy="33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6 LLM</a:t>
            </a:r>
            <a:r>
              <a:rPr lang="en" sz="1800" b="1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</a:t>
            </a:r>
            <a:br>
              <a:rPr lang="en" sz="1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</a:br>
            <a:r>
              <a:rPr lang="en" sz="10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(4 open, 2 closed)</a:t>
            </a:r>
            <a:endParaRPr sz="1000" b="0" i="0" u="none" strike="noStrike" cap="non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479" name="Google Shape;479;g362a475d704_0_195"/>
          <p:cNvSpPr txBox="1"/>
          <p:nvPr/>
        </p:nvSpPr>
        <p:spPr>
          <a:xfrm>
            <a:off x="6901636" y="2381049"/>
            <a:ext cx="1759800" cy="4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7 annotators</a:t>
            </a:r>
            <a:br>
              <a:rPr lang="en" sz="18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</a:br>
            <a:r>
              <a:rPr lang="en" sz="10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(4 contractors, 3 experts)</a:t>
            </a:r>
            <a:endParaRPr sz="1000" b="0" i="0" u="none" strike="noStrike" cap="none">
              <a:solidFill>
                <a:srgbClr val="24767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480" name="Google Shape;480;g362a475d704_0_195"/>
          <p:cNvSpPr txBox="1"/>
          <p:nvPr/>
        </p:nvSpPr>
        <p:spPr>
          <a:xfrm>
            <a:off x="510748" y="4425025"/>
            <a:ext cx="2049900" cy="4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1">
                <a:solidFill>
                  <a:srgbClr val="F1160A"/>
                </a:solidFill>
                <a:latin typeface="Cambria"/>
                <a:ea typeface="Cambria"/>
                <a:cs typeface="Cambria"/>
                <a:sym typeface="Cambria"/>
              </a:rPr>
              <a:t>3. </a:t>
            </a:r>
            <a:r>
              <a:rPr lang="en" sz="1800" b="1" i="0" u="none" strike="noStrike" cap="none">
                <a:solidFill>
                  <a:srgbClr val="F1160A"/>
                </a:solidFill>
                <a:latin typeface="Cambria"/>
                <a:ea typeface="Cambria"/>
                <a:cs typeface="Cambria"/>
                <a:sym typeface="Cambria"/>
              </a:rPr>
              <a:t>Explanation assessment</a:t>
            </a:r>
            <a:endParaRPr sz="1000" b="1" i="0" u="none" strike="noStrike" cap="none">
              <a:solidFill>
                <a:srgbClr val="F1160A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481" name="Google Shape;481;g362a475d704_0_19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833098" y="4574899"/>
            <a:ext cx="529828" cy="529828"/>
          </a:xfrm>
          <a:prstGeom prst="rect">
            <a:avLst/>
          </a:prstGeom>
          <a:noFill/>
          <a:ln>
            <a:noFill/>
          </a:ln>
        </p:spPr>
      </p:pic>
      <p:sp>
        <p:nvSpPr>
          <p:cNvPr id="482" name="Google Shape;482;g362a475d704_0_195"/>
          <p:cNvSpPr txBox="1"/>
          <p:nvPr/>
        </p:nvSpPr>
        <p:spPr>
          <a:xfrm>
            <a:off x="3865917" y="4574888"/>
            <a:ext cx="934500" cy="4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1" i="0" u="none" strike="noStrike" cap="none">
                <a:solidFill>
                  <a:srgbClr val="F1160A"/>
                </a:solidFill>
                <a:latin typeface="Cambria"/>
                <a:ea typeface="Cambria"/>
                <a:cs typeface="Cambria"/>
                <a:sym typeface="Cambria"/>
              </a:rPr>
              <a:t>1 LLM</a:t>
            </a:r>
            <a:br>
              <a:rPr lang="en" sz="1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</a:br>
            <a:endParaRPr sz="1000" b="0" i="0" u="none" strike="noStrike" cap="non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483" name="Google Shape;483;g362a475d704_0_195"/>
          <p:cNvSpPr/>
          <p:nvPr/>
        </p:nvSpPr>
        <p:spPr>
          <a:xfrm>
            <a:off x="5303426" y="4425025"/>
            <a:ext cx="982500" cy="7689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8575" cap="flat" cmpd="sng">
            <a:solidFill>
              <a:srgbClr val="F1160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4" name="Google Shape;484;g362a475d704_0_195"/>
          <p:cNvSpPr txBox="1"/>
          <p:nvPr/>
        </p:nvSpPr>
        <p:spPr>
          <a:xfrm>
            <a:off x="6410886" y="4530413"/>
            <a:ext cx="1973700" cy="4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1" i="0" u="none" strike="noStrike" cap="none">
                <a:solidFill>
                  <a:srgbClr val="F1160A"/>
                </a:solidFill>
                <a:latin typeface="Cambria"/>
                <a:ea typeface="Cambria"/>
                <a:cs typeface="Cambria"/>
                <a:sym typeface="Cambria"/>
              </a:rPr>
              <a:t>2 evaluators</a:t>
            </a:r>
            <a:br>
              <a:rPr lang="en" sz="18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</a:br>
            <a:endParaRPr sz="1000" b="1" i="0" u="none" strike="noStrike" cap="none">
              <a:solidFill>
                <a:srgbClr val="24767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485" name="Google Shape;485;g362a475d704_0_195"/>
          <p:cNvSpPr/>
          <p:nvPr/>
        </p:nvSpPr>
        <p:spPr>
          <a:xfrm>
            <a:off x="893550" y="3400275"/>
            <a:ext cx="7356900" cy="8259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1 </a:t>
            </a:r>
            <a:r>
              <a:rPr lang="en" sz="16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,000 explanations/LLM/task</a:t>
            </a:r>
            <a:r>
              <a:rPr lang="en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en" sz="16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= 24,000</a:t>
            </a:r>
            <a:endParaRPr sz="1600" b="1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110 explanations/contractor/task + 110 explanations/expert/tasks 3&amp;4 </a:t>
            </a:r>
            <a:r>
              <a:rPr lang="en" sz="1600" b="1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= 2,420</a:t>
            </a:r>
            <a:endParaRPr b="1" i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" sz="1600" b="1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Total = 26,420 explanations </a:t>
            </a:r>
            <a:endParaRPr b="1" i="1">
              <a:solidFill>
                <a:schemeClr val="dk1"/>
              </a:solidFill>
            </a:endParaRPr>
          </a:p>
        </p:txBody>
      </p:sp>
      <p:sp>
        <p:nvSpPr>
          <p:cNvPr id="486" name="Google Shape;486;g362a475d704_0_195"/>
          <p:cNvSpPr/>
          <p:nvPr/>
        </p:nvSpPr>
        <p:spPr>
          <a:xfrm>
            <a:off x="5340013" y="2220725"/>
            <a:ext cx="1590300" cy="9882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7" name="Google Shape;487;g362a475d704_0_195"/>
          <p:cNvSpPr/>
          <p:nvPr/>
        </p:nvSpPr>
        <p:spPr>
          <a:xfrm>
            <a:off x="2301550" y="2208375"/>
            <a:ext cx="1758600" cy="10371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88" name="Google Shape;488;g362a475d704_0_195"/>
          <p:cNvPicPr preferRelativeResize="0"/>
          <p:nvPr/>
        </p:nvPicPr>
        <p:blipFill rotWithShape="1">
          <a:blip r:embed="rId5">
            <a:alphaModFix/>
          </a:blip>
          <a:srcRect l="4006" t="3155" r="69603" b="71482"/>
          <a:stretch/>
        </p:blipFill>
        <p:spPr>
          <a:xfrm>
            <a:off x="5430679" y="2371928"/>
            <a:ext cx="818306" cy="7178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89" name="Google Shape;489;g362a475d704_0_195"/>
          <p:cNvPicPr preferRelativeResize="0"/>
          <p:nvPr/>
        </p:nvPicPr>
        <p:blipFill rotWithShape="1">
          <a:blip r:embed="rId5">
            <a:alphaModFix/>
          </a:blip>
          <a:srcRect l="6939" t="38185" r="72721" b="36452"/>
          <a:stretch/>
        </p:blipFill>
        <p:spPr>
          <a:xfrm>
            <a:off x="6285813" y="2410503"/>
            <a:ext cx="562875" cy="64070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90" name="Google Shape;490;g362a475d704_0_195"/>
          <p:cNvGrpSpPr/>
          <p:nvPr/>
        </p:nvGrpSpPr>
        <p:grpSpPr>
          <a:xfrm>
            <a:off x="2236230" y="2208386"/>
            <a:ext cx="1731115" cy="988126"/>
            <a:chOff x="183584" y="2765796"/>
            <a:chExt cx="2135597" cy="1292006"/>
          </a:xfrm>
        </p:grpSpPr>
        <p:pic>
          <p:nvPicPr>
            <p:cNvPr id="491" name="Google Shape;491;g362a475d704_0_195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1715115" y="2850333"/>
              <a:ext cx="597957" cy="6383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92" name="Google Shape;492;g362a475d704_0_195" descr="Gemma models overview | Google AI for Developers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989326" y="2765796"/>
              <a:ext cx="765968" cy="68972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93" name="Google Shape;493;g362a475d704_0_195"/>
            <p:cNvPicPr preferRelativeResize="0"/>
            <p:nvPr/>
          </p:nvPicPr>
          <p:blipFill rotWithShape="1">
            <a:blip r:embed="rId8">
              <a:alphaModFix/>
            </a:blip>
            <a:srcRect l="34474" t="27407" r="32798" b="26700"/>
            <a:stretch/>
          </p:blipFill>
          <p:spPr>
            <a:xfrm>
              <a:off x="342674" y="3432247"/>
              <a:ext cx="753733" cy="6255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94" name="Google Shape;494;g362a475d704_0_195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789353" y="3480112"/>
              <a:ext cx="529828" cy="52982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95" name="Google Shape;495;g362a475d704_0_195"/>
            <p:cNvPicPr preferRelativeResize="0"/>
            <p:nvPr/>
          </p:nvPicPr>
          <p:blipFill rotWithShape="1">
            <a:blip r:embed="rId9">
              <a:alphaModFix/>
            </a:blip>
            <a:srcRect l="17247" t="15409" r="17644" b="10074"/>
            <a:stretch/>
          </p:blipFill>
          <p:spPr>
            <a:xfrm>
              <a:off x="1099016" y="3432243"/>
              <a:ext cx="546588" cy="625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96" name="Google Shape;496;g362a475d704_0_195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183584" y="2826482"/>
              <a:ext cx="1071913" cy="68602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97" name="Google Shape;497;g362a475d704_0_195"/>
          <p:cNvSpPr txBox="1"/>
          <p:nvPr/>
        </p:nvSpPr>
        <p:spPr>
          <a:xfrm>
            <a:off x="3380646" y="2538376"/>
            <a:ext cx="6795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+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99" name="Google Shape;499;g362a475d704_0_195"/>
          <p:cNvGrpSpPr/>
          <p:nvPr/>
        </p:nvGrpSpPr>
        <p:grpSpPr>
          <a:xfrm>
            <a:off x="5303420" y="4469723"/>
            <a:ext cx="934557" cy="642055"/>
            <a:chOff x="5592437" y="3691410"/>
            <a:chExt cx="1447803" cy="914479"/>
          </a:xfrm>
        </p:grpSpPr>
        <p:pic>
          <p:nvPicPr>
            <p:cNvPr id="500" name="Google Shape;500;g362a475d704_0_195"/>
            <p:cNvPicPr preferRelativeResize="0"/>
            <p:nvPr/>
          </p:nvPicPr>
          <p:blipFill rotWithShape="1">
            <a:blip r:embed="rId5">
              <a:alphaModFix/>
            </a:blip>
            <a:srcRect l="33884" t="33154" r="37432" b="34846"/>
            <a:stretch/>
          </p:blipFill>
          <p:spPr>
            <a:xfrm>
              <a:off x="6150933" y="3700247"/>
              <a:ext cx="889307" cy="90564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01" name="Google Shape;501;g362a475d704_0_195"/>
            <p:cNvPicPr preferRelativeResize="0"/>
            <p:nvPr/>
          </p:nvPicPr>
          <p:blipFill rotWithShape="1">
            <a:blip r:embed="rId5">
              <a:alphaModFix/>
            </a:blip>
            <a:srcRect l="33884" t="33154" r="37432" b="34846"/>
            <a:stretch/>
          </p:blipFill>
          <p:spPr>
            <a:xfrm>
              <a:off x="5592437" y="3691410"/>
              <a:ext cx="889303" cy="90564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02" name="Google Shape;502;g362a475d704_0_195"/>
          <p:cNvSpPr txBox="1"/>
          <p:nvPr/>
        </p:nvSpPr>
        <p:spPr>
          <a:xfrm>
            <a:off x="3182200" y="1305863"/>
            <a:ext cx="1076400" cy="4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4 Tasks</a:t>
            </a:r>
            <a:endParaRPr sz="1800" b="1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" name="Google Shape;437;g362a475d704_0_123">
            <a:extLst>
              <a:ext uri="{FF2B5EF4-FFF2-40B4-BE49-F238E27FC236}">
                <a16:creationId xmlns:a16="http://schemas.microsoft.com/office/drawing/2014/main" id="{19F050D4-C4A8-0C82-6474-4A6FC9433408}"/>
              </a:ext>
            </a:extLst>
          </p:cNvPr>
          <p:cNvSpPr txBox="1"/>
          <p:nvPr/>
        </p:nvSpPr>
        <p:spPr>
          <a:xfrm>
            <a:off x="4637400" y="1027625"/>
            <a:ext cx="4194900" cy="98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mbria"/>
              <a:buChar char="-"/>
            </a:pPr>
            <a:r>
              <a:rPr lang="en" sz="1400" b="1" i="0" u="none" strike="noStrike" cap="none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C</a:t>
            </a:r>
            <a:r>
              <a:rPr lang="en" sz="1400" b="0" i="0" u="none" strike="noStrike" cap="none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ommonsense Reasoning </a:t>
            </a:r>
            <a:endParaRPr dirty="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mbria"/>
              <a:buChar char="-"/>
            </a:pPr>
            <a:r>
              <a:rPr lang="en" sz="1400" b="1" i="0" u="none" strike="noStrike" cap="none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U</a:t>
            </a:r>
            <a:r>
              <a:rPr lang="en" sz="1400" b="0" i="0" u="none" strike="noStrike" cap="none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sual Fallacy Detection</a:t>
            </a:r>
            <a:endParaRPr dirty="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mbria"/>
              <a:buChar char="-"/>
            </a:pPr>
            <a:r>
              <a:rPr lang="en" sz="1400" b="1" i="0" u="none" strike="noStrike" cap="none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B</a:t>
            </a:r>
            <a:r>
              <a:rPr lang="en" sz="1400" b="0" i="0" u="none" strike="noStrike" cap="none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asic Reading Comprehension </a:t>
            </a:r>
            <a:endParaRPr dirty="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mbria"/>
              <a:buChar char="-"/>
            </a:pPr>
            <a:r>
              <a:rPr lang="en" sz="1400" b="1" i="0" u="none" strike="noStrike" cap="none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E</a:t>
            </a:r>
            <a:r>
              <a:rPr lang="en" sz="1400" b="0" i="0" u="none" strike="noStrike" cap="none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ssay scoring </a:t>
            </a:r>
            <a:endParaRPr sz="1400" b="0" i="0" u="none" strike="noStrike" cap="none" dirty="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5" grpId="0" animBg="1"/>
      <p:bldP spid="480" grpId="0"/>
      <p:bldP spid="482" grpId="0"/>
      <p:bldP spid="483" grpId="0" animBg="1"/>
      <p:bldP spid="484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26"/>
          <p:cNvSpPr txBox="1"/>
          <p:nvPr/>
        </p:nvSpPr>
        <p:spPr>
          <a:xfrm>
            <a:off x="365700" y="1192238"/>
            <a:ext cx="8412600" cy="48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Nunito Light"/>
              <a:ea typeface="Nunito Light"/>
              <a:cs typeface="Nunito Light"/>
              <a:sym typeface="Nunito Light"/>
            </a:endParaRPr>
          </a:p>
        </p:txBody>
      </p:sp>
      <p:sp>
        <p:nvSpPr>
          <p:cNvPr id="508" name="Google Shape;508;p26"/>
          <p:cNvSpPr txBox="1"/>
          <p:nvPr/>
        </p:nvSpPr>
        <p:spPr>
          <a:xfrm>
            <a:off x="365700" y="1192250"/>
            <a:ext cx="8412600" cy="53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1" i="0" u="sng" strike="noStrike" cap="none" dirty="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1" i="0" u="sng" strike="noStrike" cap="none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Essay</a:t>
            </a:r>
            <a:r>
              <a:rPr lang="en" sz="1200" b="0" i="0" u="none" strike="noStrike" cap="none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:</a:t>
            </a:r>
            <a:endParaRPr sz="1200" b="0" i="0" u="none" strike="noStrike" cap="none" dirty="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 dirty="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br>
              <a:rPr lang="en" sz="1200" b="1" i="0" u="sng" strike="noStrike" cap="none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</a:br>
            <a:br>
              <a:rPr lang="en" sz="1200" b="1" i="0" u="sng" strike="noStrike" cap="none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</a:br>
            <a:br>
              <a:rPr lang="en" sz="1200" b="1" i="0" u="sng" strike="noStrike" cap="none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</a:br>
            <a:endParaRPr sz="1200" b="1" i="0" u="sng" strike="noStrike" cap="none" dirty="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1" i="0" u="sng" strike="noStrike" cap="none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Explanation</a:t>
            </a:r>
            <a:r>
              <a:rPr lang="en" sz="1200" b="0" i="0" u="none" strike="noStrike" cap="none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:</a:t>
            </a:r>
            <a:endParaRPr sz="1200" b="0" i="0" u="none" strike="noStrike" cap="none" dirty="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0" i="0" u="none" strike="noStrike" cap="none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The right answer is A, because this text is clearly of a low </a:t>
            </a:r>
            <a:r>
              <a:rPr lang="en" sz="1200" b="0" i="0" u="none" strike="noStrike" cap="none" dirty="0" err="1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english</a:t>
            </a:r>
            <a:r>
              <a:rPr lang="en" sz="1200" b="0" i="0" u="none" strike="noStrike" cap="none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level, with mis-conjugations of '</a:t>
            </a:r>
            <a:r>
              <a:rPr lang="en" sz="1200" b="0" i="0" u="none" strike="noStrike" cap="none" dirty="0" err="1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i</a:t>
            </a:r>
            <a:r>
              <a:rPr lang="en" sz="1200" b="0" i="0" u="none" strike="noStrike" cap="none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do a research' and 'this are findings', alongside 'our litters' and 'whenever' instead of 'wherever' show a poor grasp of language. The expression in the final section is very heartfelt however, and the tone is excitable and keen throughout.</a:t>
            </a:r>
            <a:endParaRPr sz="1400" b="0" i="0" u="sng" strike="noStrike" cap="none" dirty="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509" name="Google Shape;509;p26"/>
          <p:cNvSpPr txBox="1"/>
          <p:nvPr/>
        </p:nvSpPr>
        <p:spPr>
          <a:xfrm>
            <a:off x="434550" y="1800046"/>
            <a:ext cx="3507600" cy="3273777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b="0" i="0" u="none" strike="noStrike" cap="none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To: International </a:t>
            </a:r>
            <a:r>
              <a:rPr lang="en" sz="900" b="0" i="0" u="none" strike="noStrike" cap="none" dirty="0" err="1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organisation</a:t>
            </a:r>
            <a:r>
              <a:rPr lang="en" sz="900" b="0" i="0" u="none" strike="noStrike" cap="none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endParaRPr sz="900" b="0" i="0" u="none" strike="noStrike" cap="none" dirty="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b="0" i="0" u="none" strike="noStrike" cap="none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From: Dimitris Barberis</a:t>
            </a:r>
            <a:endParaRPr sz="900" b="0" i="0" u="none" strike="noStrike" cap="none" dirty="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b="0" i="0" u="none" strike="noStrike" cap="none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Subject: Our green town</a:t>
            </a:r>
            <a:endParaRPr sz="900" b="0" i="0" u="none" strike="noStrike" cap="none" dirty="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 dirty="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b="0" i="0" u="none" strike="noStrike" cap="none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Introduction</a:t>
            </a:r>
            <a:endParaRPr sz="900" b="0" i="0" u="none" strike="noStrike" cap="none" dirty="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b="0" i="0" u="none" strike="noStrike" cap="none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The aim of the report is to write how are town take care of the environment. I do a research and this are findings. </a:t>
            </a:r>
            <a:endParaRPr sz="900" b="0" i="0" u="none" strike="noStrike" cap="none" dirty="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 dirty="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b="0" i="0" u="none" strike="noStrike" cap="none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Rubbish</a:t>
            </a:r>
            <a:endParaRPr sz="900" b="0" i="0" u="none" strike="noStrike" cap="none" dirty="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b="0" i="0" u="none" strike="noStrike" cap="none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We have a lot of bins around the area, so now we can throw our litters whenever we are. Also we have recycle bins for paper and glass.</a:t>
            </a:r>
            <a:endParaRPr sz="900" b="0" i="0" u="none" strike="noStrike" cap="none" dirty="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 dirty="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b="0" i="0" u="none" strike="noStrike" cap="none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Cleaners </a:t>
            </a:r>
            <a:endParaRPr sz="900" b="0" i="0" u="none" strike="noStrike" cap="none" dirty="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b="0" i="0" u="none" strike="noStrike" cap="none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Every Saturday our local cleaning team clean the park and now everyone can enjoy it! </a:t>
            </a:r>
            <a:endParaRPr sz="900" b="0" i="0" u="none" strike="noStrike" cap="none" dirty="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 dirty="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b="0" i="0" u="none" strike="noStrike" cap="none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Conclusion </a:t>
            </a:r>
            <a:endParaRPr sz="900" b="0" i="0" u="none" strike="noStrike" cap="none" dirty="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b="0" i="0" u="none" strike="noStrike" cap="none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We do everything to make our town more green, our citizens always have new ideas that make the difference of our daily life. </a:t>
            </a:r>
            <a:endParaRPr sz="1800" b="0" i="0" u="none" strike="noStrike" cap="none" dirty="0">
              <a:solidFill>
                <a:schemeClr val="dk2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510" name="Google Shape;510;p26"/>
          <p:cNvSpPr/>
          <p:nvPr/>
        </p:nvSpPr>
        <p:spPr>
          <a:xfrm>
            <a:off x="240125" y="304325"/>
            <a:ext cx="147600" cy="614400"/>
          </a:xfrm>
          <a:prstGeom prst="roundRect">
            <a:avLst>
              <a:gd name="adj" fmla="val 16667"/>
            </a:avLst>
          </a:prstGeom>
          <a:solidFill>
            <a:srgbClr val="FCDF0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rgbClr val="FF00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" name="Google Shape;511;p26"/>
          <p:cNvSpPr txBox="1"/>
          <p:nvPr/>
        </p:nvSpPr>
        <p:spPr>
          <a:xfrm>
            <a:off x="434550" y="30431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" sz="3000" b="1" dirty="0">
                <a:latin typeface="Cambria"/>
                <a:ea typeface="Cambria"/>
                <a:cs typeface="Cambria"/>
                <a:sym typeface="Cambria"/>
              </a:rPr>
              <a:t>Explanation</a:t>
            </a:r>
            <a:r>
              <a:rPr lang="en" sz="3000" b="1" i="0" u="none" strike="noStrike" cap="none" dirty="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assessment: Essay Scoring</a:t>
            </a:r>
            <a:r>
              <a:rPr lang="en" sz="3000" b="1" i="0" u="none" strike="noStrike" cap="none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endParaRPr sz="2100" b="1" i="0" u="none" strike="noStrike" cap="none" dirty="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12" name="Google Shape;512;p26"/>
          <p:cNvSpPr/>
          <p:nvPr/>
        </p:nvSpPr>
        <p:spPr>
          <a:xfrm>
            <a:off x="8348100" y="6373475"/>
            <a:ext cx="484200" cy="372300"/>
          </a:xfrm>
          <a:prstGeom prst="roundRect">
            <a:avLst>
              <a:gd name="adj" fmla="val 16667"/>
            </a:avLst>
          </a:prstGeom>
          <a:solidFill>
            <a:srgbClr val="FCDF0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r>
              <a:rPr lang="en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0</a:t>
            </a:r>
            <a:endParaRPr sz="1400" b="0" i="0" u="none" strike="noStrike" cap="non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513" name="Google Shape;513;p2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47439" y="2604976"/>
            <a:ext cx="4200661" cy="2059468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0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0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9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27"/>
          <p:cNvSpPr txBox="1"/>
          <p:nvPr/>
        </p:nvSpPr>
        <p:spPr>
          <a:xfrm>
            <a:off x="365700" y="1192238"/>
            <a:ext cx="8412600" cy="48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Nunito Light"/>
              <a:ea typeface="Nunito Light"/>
              <a:cs typeface="Nunito Light"/>
              <a:sym typeface="Nunito Light"/>
            </a:endParaRPr>
          </a:p>
        </p:txBody>
      </p:sp>
      <p:sp>
        <p:nvSpPr>
          <p:cNvPr id="519" name="Google Shape;519;p27"/>
          <p:cNvSpPr txBox="1"/>
          <p:nvPr/>
        </p:nvSpPr>
        <p:spPr>
          <a:xfrm>
            <a:off x="365700" y="1192250"/>
            <a:ext cx="8412600" cy="53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1" i="0" u="sng" strike="noStrike" cap="non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1" i="0" u="sng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Essay</a:t>
            </a:r>
            <a:r>
              <a:rPr lang="en" sz="12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:</a:t>
            </a:r>
            <a:endParaRPr sz="1200" b="0" i="0" u="none" strike="noStrike" cap="non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br>
              <a:rPr lang="en" sz="1200" b="1" i="0" u="sng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</a:br>
            <a:br>
              <a:rPr lang="en" sz="1200" b="1" i="0" u="sng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</a:br>
            <a:br>
              <a:rPr lang="en" sz="1200" b="1" i="0" u="sng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</a:br>
            <a:endParaRPr sz="1200" b="1" i="0" u="sng" strike="noStrike" cap="non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1" i="0" u="sng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Explanation</a:t>
            </a:r>
            <a:r>
              <a:rPr lang="en" sz="12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1" i="0" u="none" strike="noStrike" cap="none">
                <a:solidFill>
                  <a:srgbClr val="0000DC"/>
                </a:solidFill>
                <a:latin typeface="Cambria"/>
                <a:ea typeface="Cambria"/>
                <a:cs typeface="Cambria"/>
                <a:sym typeface="Cambria"/>
              </a:rPr>
              <a:t>The right answer is A</a:t>
            </a:r>
            <a:r>
              <a:rPr lang="en" sz="12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, because </a:t>
            </a:r>
            <a:r>
              <a:rPr lang="en" sz="1200" b="1" i="0" u="none" strike="noStrike" cap="none">
                <a:solidFill>
                  <a:srgbClr val="0000DC"/>
                </a:solidFill>
                <a:latin typeface="Cambria"/>
                <a:ea typeface="Cambria"/>
                <a:cs typeface="Cambria"/>
                <a:sym typeface="Cambria"/>
              </a:rPr>
              <a:t>this text is </a:t>
            </a:r>
            <a:r>
              <a:rPr lang="en" sz="1200" b="1" i="0" u="none" strike="noStrike" cap="none">
                <a:solidFill>
                  <a:srgbClr val="F1160A"/>
                </a:solidFill>
                <a:latin typeface="Cambria"/>
                <a:ea typeface="Cambria"/>
                <a:cs typeface="Cambria"/>
                <a:sym typeface="Cambria"/>
              </a:rPr>
              <a:t>clearly</a:t>
            </a:r>
            <a:r>
              <a:rPr lang="en" sz="1200" b="1" i="0" u="none" strike="noStrike" cap="none">
                <a:solidFill>
                  <a:srgbClr val="0000DC"/>
                </a:solidFill>
                <a:latin typeface="Cambria"/>
                <a:ea typeface="Cambria"/>
                <a:cs typeface="Cambria"/>
                <a:sym typeface="Cambria"/>
              </a:rPr>
              <a:t> of a low english level</a:t>
            </a:r>
            <a:r>
              <a:rPr lang="en" sz="12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, </a:t>
            </a:r>
            <a:r>
              <a:rPr lang="en" sz="1200" b="1" i="0" u="none" strike="noStrike" cap="none">
                <a:solidFill>
                  <a:srgbClr val="F1C232"/>
                </a:solidFill>
                <a:latin typeface="Cambria"/>
                <a:ea typeface="Cambria"/>
                <a:cs typeface="Cambria"/>
                <a:sym typeface="Cambria"/>
              </a:rPr>
              <a:t>with mis-conjugations of 'i do a research' and 'this are findings', alongside 'our litters' and 'whenever' instead of 'wherever' show a poor grasp of language</a:t>
            </a:r>
            <a:r>
              <a:rPr lang="en" sz="12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. The expression in the final section is very </a:t>
            </a:r>
            <a:r>
              <a:rPr lang="en" sz="1200" b="1" i="0" u="none" strike="noStrike" cap="none">
                <a:solidFill>
                  <a:srgbClr val="F1160A"/>
                </a:solidFill>
                <a:latin typeface="Cambria"/>
                <a:ea typeface="Cambria"/>
                <a:cs typeface="Cambria"/>
                <a:sym typeface="Cambria"/>
              </a:rPr>
              <a:t>heartfelt</a:t>
            </a:r>
            <a:r>
              <a:rPr lang="en" sz="12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however, and the tone is </a:t>
            </a:r>
            <a:r>
              <a:rPr lang="en" sz="1200" b="1" i="0" u="none" strike="noStrike" cap="none">
                <a:solidFill>
                  <a:srgbClr val="F1160A"/>
                </a:solidFill>
                <a:latin typeface="Cambria"/>
                <a:ea typeface="Cambria"/>
                <a:cs typeface="Cambria"/>
                <a:sym typeface="Cambria"/>
              </a:rPr>
              <a:t>excitable</a:t>
            </a:r>
            <a:r>
              <a:rPr lang="en" sz="12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and keen throughout.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→ GOOD!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0" name="Google Shape;520;p27"/>
          <p:cNvSpPr txBox="1"/>
          <p:nvPr/>
        </p:nvSpPr>
        <p:spPr>
          <a:xfrm>
            <a:off x="434550" y="1800046"/>
            <a:ext cx="3507600" cy="3273777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To: International organisation </a:t>
            </a:r>
            <a:endParaRPr sz="900" b="0" i="0" u="none" strike="noStrike" cap="non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From: Dimitris Barberis</a:t>
            </a:r>
            <a:endParaRPr sz="900" b="0" i="0" u="none" strike="noStrike" cap="non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Subject: Our green town</a:t>
            </a:r>
            <a:endParaRPr sz="900" b="0" i="0" u="none" strike="noStrike" cap="non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Introduction</a:t>
            </a:r>
            <a:endParaRPr sz="900" b="0" i="0" u="none" strike="noStrike" cap="non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The aim of the report is to write how are town take care of the environment. I do a research and this are findings. </a:t>
            </a:r>
            <a:endParaRPr sz="900" b="0" i="0" u="none" strike="noStrike" cap="non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Rubbish</a:t>
            </a:r>
            <a:endParaRPr sz="900" b="0" i="0" u="none" strike="noStrike" cap="non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We have a lot of bins around the area, so now we can throw our litters whenever we are. Also we have recycle bins for paper and glass.</a:t>
            </a:r>
            <a:endParaRPr sz="900" b="0" i="0" u="none" strike="noStrike" cap="non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Cleaners </a:t>
            </a:r>
            <a:endParaRPr sz="900" b="0" i="0" u="none" strike="noStrike" cap="non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Every Saturday our local cleaning team clean the park and now everyone can enjoy it! </a:t>
            </a:r>
            <a:endParaRPr sz="900" b="0" i="0" u="none" strike="noStrike" cap="non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Conclusion </a:t>
            </a:r>
            <a:endParaRPr sz="900" b="0" i="0" u="none" strike="noStrike" cap="non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We do everything to make our town more green, our citizens always have new ideas that make the difference of our daily life. </a:t>
            </a:r>
            <a:endParaRPr sz="1800" b="0" i="0" u="none" strike="noStrike" cap="none">
              <a:solidFill>
                <a:schemeClr val="dk2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521" name="Google Shape;521;p27"/>
          <p:cNvSpPr/>
          <p:nvPr/>
        </p:nvSpPr>
        <p:spPr>
          <a:xfrm>
            <a:off x="240125" y="304325"/>
            <a:ext cx="147600" cy="614400"/>
          </a:xfrm>
          <a:prstGeom prst="roundRect">
            <a:avLst>
              <a:gd name="adj" fmla="val 16667"/>
            </a:avLst>
          </a:prstGeom>
          <a:solidFill>
            <a:srgbClr val="FCDF0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rgbClr val="FF00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2" name="Google Shape;522;p27"/>
          <p:cNvSpPr txBox="1"/>
          <p:nvPr/>
        </p:nvSpPr>
        <p:spPr>
          <a:xfrm>
            <a:off x="434550" y="30431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" sz="3000" b="1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Explanation</a:t>
            </a:r>
            <a:r>
              <a:rPr lang="en" sz="3000" b="1" i="0" u="none" strike="noStrike" cap="non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assessment: Essay Scoring</a:t>
            </a:r>
            <a:r>
              <a:rPr lang="en" sz="3000" b="1" i="0" u="none" strike="noStrike" cap="non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endParaRPr sz="2100" b="1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23" name="Google Shape;523;p27"/>
          <p:cNvSpPr/>
          <p:nvPr/>
        </p:nvSpPr>
        <p:spPr>
          <a:xfrm>
            <a:off x="8348100" y="6373475"/>
            <a:ext cx="484200" cy="372300"/>
          </a:xfrm>
          <a:prstGeom prst="roundRect">
            <a:avLst>
              <a:gd name="adj" fmla="val 16667"/>
            </a:avLst>
          </a:prstGeom>
          <a:solidFill>
            <a:srgbClr val="FCDF0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r>
              <a:rPr lang="en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0</a:t>
            </a:r>
            <a:endParaRPr sz="1400" b="0" i="0" u="none" strike="noStrike" cap="non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524" name="Google Shape;524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47439" y="2604976"/>
            <a:ext cx="4200661" cy="20594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g362a475d704_0_232"/>
          <p:cNvSpPr txBox="1"/>
          <p:nvPr/>
        </p:nvSpPr>
        <p:spPr>
          <a:xfrm>
            <a:off x="434550" y="30431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" sz="3000" b="1" i="0" u="none" strike="noStrike" cap="non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Methodology: Step 2</a:t>
            </a:r>
            <a:endParaRPr sz="2100" b="1" i="0" u="none" strike="noStrike" cap="non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541" name="Google Shape;541;g362a475d704_0_232"/>
          <p:cNvSpPr/>
          <p:nvPr/>
        </p:nvSpPr>
        <p:spPr>
          <a:xfrm>
            <a:off x="240125" y="304325"/>
            <a:ext cx="147600" cy="614400"/>
          </a:xfrm>
          <a:prstGeom prst="roundRect">
            <a:avLst>
              <a:gd name="adj" fmla="val 16667"/>
            </a:avLst>
          </a:prstGeom>
          <a:solidFill>
            <a:srgbClr val="F116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rgbClr val="FF00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2" name="Google Shape;542;g362a475d704_0_232"/>
          <p:cNvSpPr/>
          <p:nvPr/>
        </p:nvSpPr>
        <p:spPr>
          <a:xfrm>
            <a:off x="8348100" y="6373475"/>
            <a:ext cx="484200" cy="372300"/>
          </a:xfrm>
          <a:prstGeom prst="roundRect">
            <a:avLst>
              <a:gd name="adj" fmla="val 16667"/>
            </a:avLst>
          </a:prstGeom>
          <a:solidFill>
            <a:srgbClr val="F116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22</a:t>
            </a:r>
            <a:endParaRPr sz="1400" b="0" i="0" u="none" strike="noStrike" cap="non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543" name="Google Shape;543;g362a475d704_0_232"/>
          <p:cNvSpPr/>
          <p:nvPr/>
        </p:nvSpPr>
        <p:spPr>
          <a:xfrm>
            <a:off x="398700" y="1027625"/>
            <a:ext cx="8346600" cy="10371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4" name="Google Shape;544;g362a475d704_0_232"/>
          <p:cNvSpPr/>
          <p:nvPr/>
        </p:nvSpPr>
        <p:spPr>
          <a:xfrm>
            <a:off x="398700" y="2073525"/>
            <a:ext cx="8346600" cy="1305000"/>
          </a:xfrm>
          <a:prstGeom prst="roundRect">
            <a:avLst>
              <a:gd name="adj" fmla="val 16667"/>
            </a:avLst>
          </a:prstGeom>
          <a:solidFill>
            <a:srgbClr val="EFEFE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5" name="Google Shape;545;g362a475d704_0_232"/>
          <p:cNvSpPr/>
          <p:nvPr/>
        </p:nvSpPr>
        <p:spPr>
          <a:xfrm>
            <a:off x="411250" y="4247925"/>
            <a:ext cx="8346600" cy="1117500"/>
          </a:xfrm>
          <a:prstGeom prst="roundRect">
            <a:avLst>
              <a:gd name="adj" fmla="val 16667"/>
            </a:avLst>
          </a:prstGeom>
          <a:solidFill>
            <a:srgbClr val="EFEFE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6" name="Google Shape;546;g362a475d704_0_232"/>
          <p:cNvSpPr txBox="1"/>
          <p:nvPr/>
        </p:nvSpPr>
        <p:spPr>
          <a:xfrm>
            <a:off x="510748" y="1305875"/>
            <a:ext cx="2049900" cy="4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1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1. </a:t>
            </a:r>
            <a:r>
              <a:rPr lang="en" sz="18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Data collection</a:t>
            </a:r>
            <a:endParaRPr sz="1000" b="1" i="0" u="none" strike="noStrike" cap="non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547" name="Google Shape;547;g362a475d704_0_232"/>
          <p:cNvSpPr txBox="1"/>
          <p:nvPr/>
        </p:nvSpPr>
        <p:spPr>
          <a:xfrm>
            <a:off x="510749" y="2358875"/>
            <a:ext cx="1973700" cy="4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1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2. </a:t>
            </a:r>
            <a:r>
              <a:rPr lang="en" sz="18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Explanation Generation</a:t>
            </a:r>
            <a:endParaRPr sz="1000" b="1" i="0" u="none" strike="noStrike" cap="non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548" name="Google Shape;548;g362a475d704_0_232"/>
          <p:cNvSpPr txBox="1"/>
          <p:nvPr/>
        </p:nvSpPr>
        <p:spPr>
          <a:xfrm>
            <a:off x="3967352" y="2339824"/>
            <a:ext cx="1426500" cy="33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6 LLM</a:t>
            </a:r>
            <a:r>
              <a:rPr lang="en" sz="1800" b="1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</a:t>
            </a:r>
            <a:br>
              <a:rPr lang="en" sz="1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</a:br>
            <a:r>
              <a:rPr lang="en" sz="10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(4 open, 2 closed)</a:t>
            </a:r>
            <a:endParaRPr sz="1000" b="0" i="0" u="none" strike="noStrike" cap="non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549" name="Google Shape;549;g362a475d704_0_232"/>
          <p:cNvSpPr txBox="1"/>
          <p:nvPr/>
        </p:nvSpPr>
        <p:spPr>
          <a:xfrm>
            <a:off x="6901636" y="2381049"/>
            <a:ext cx="1759800" cy="4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7 annotators</a:t>
            </a:r>
            <a:br>
              <a:rPr lang="en" sz="18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</a:br>
            <a:r>
              <a:rPr lang="en" sz="10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(4 contractors, 3 experts)</a:t>
            </a:r>
            <a:endParaRPr sz="1000" b="0" i="0" u="none" strike="noStrike" cap="none">
              <a:solidFill>
                <a:srgbClr val="24767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550" name="Google Shape;550;g362a475d704_0_232"/>
          <p:cNvSpPr txBox="1"/>
          <p:nvPr/>
        </p:nvSpPr>
        <p:spPr>
          <a:xfrm>
            <a:off x="510748" y="4425025"/>
            <a:ext cx="2049900" cy="4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1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3. </a:t>
            </a:r>
            <a:r>
              <a:rPr lang="en" sz="18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Explanation assessment</a:t>
            </a:r>
            <a:endParaRPr sz="1000" b="1" i="0" u="none" strike="noStrike" cap="non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551" name="Google Shape;551;g362a475d704_0_23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833098" y="4574899"/>
            <a:ext cx="529828" cy="529828"/>
          </a:xfrm>
          <a:prstGeom prst="rect">
            <a:avLst/>
          </a:prstGeom>
          <a:noFill/>
          <a:ln>
            <a:noFill/>
          </a:ln>
        </p:spPr>
      </p:pic>
      <p:sp>
        <p:nvSpPr>
          <p:cNvPr id="552" name="Google Shape;552;g362a475d704_0_232"/>
          <p:cNvSpPr txBox="1"/>
          <p:nvPr/>
        </p:nvSpPr>
        <p:spPr>
          <a:xfrm>
            <a:off x="3865917" y="4574888"/>
            <a:ext cx="934500" cy="4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1 LLM</a:t>
            </a:r>
            <a:br>
              <a:rPr lang="en" sz="1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</a:br>
            <a:endParaRPr sz="1000" b="0" i="0" u="none" strike="noStrike" cap="non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553" name="Google Shape;553;g362a475d704_0_232"/>
          <p:cNvSpPr/>
          <p:nvPr/>
        </p:nvSpPr>
        <p:spPr>
          <a:xfrm>
            <a:off x="5303426" y="4425025"/>
            <a:ext cx="982500" cy="7689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4" name="Google Shape;554;g362a475d704_0_232"/>
          <p:cNvSpPr txBox="1"/>
          <p:nvPr/>
        </p:nvSpPr>
        <p:spPr>
          <a:xfrm>
            <a:off x="6410886" y="4530413"/>
            <a:ext cx="1973700" cy="4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2 evaluators</a:t>
            </a:r>
            <a:br>
              <a:rPr lang="en" sz="18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</a:br>
            <a:endParaRPr sz="1000" b="1" i="0" u="none" strike="noStrike" cap="none">
              <a:solidFill>
                <a:srgbClr val="24767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555" name="Google Shape;555;g362a475d704_0_232"/>
          <p:cNvSpPr/>
          <p:nvPr/>
        </p:nvSpPr>
        <p:spPr>
          <a:xfrm>
            <a:off x="893550" y="3400275"/>
            <a:ext cx="7356900" cy="8259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1 </a:t>
            </a:r>
            <a:r>
              <a:rPr lang="en" sz="16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,000 explanations/LLM/task</a:t>
            </a:r>
            <a:r>
              <a:rPr lang="en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en" sz="16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= 24,000</a:t>
            </a:r>
            <a:endParaRPr sz="1600" b="1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110 explanations/contractor/task + 110 explanations/expert/tasks 3&amp;4 </a:t>
            </a:r>
            <a:r>
              <a:rPr lang="en" sz="1600" b="1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= 2,420</a:t>
            </a:r>
            <a:endParaRPr b="1" i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" sz="1600" b="1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Total = 26,420 explanations </a:t>
            </a:r>
            <a:endParaRPr b="1" i="1">
              <a:solidFill>
                <a:schemeClr val="dk1"/>
              </a:solidFill>
            </a:endParaRPr>
          </a:p>
        </p:txBody>
      </p:sp>
      <p:sp>
        <p:nvSpPr>
          <p:cNvPr id="556" name="Google Shape;556;g362a475d704_0_232"/>
          <p:cNvSpPr/>
          <p:nvPr/>
        </p:nvSpPr>
        <p:spPr>
          <a:xfrm>
            <a:off x="5340013" y="2220725"/>
            <a:ext cx="1590300" cy="9882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7" name="Google Shape;557;g362a475d704_0_232"/>
          <p:cNvSpPr/>
          <p:nvPr/>
        </p:nvSpPr>
        <p:spPr>
          <a:xfrm>
            <a:off x="2301550" y="2208375"/>
            <a:ext cx="1758600" cy="10371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58" name="Google Shape;558;g362a475d704_0_232"/>
          <p:cNvPicPr preferRelativeResize="0"/>
          <p:nvPr/>
        </p:nvPicPr>
        <p:blipFill rotWithShape="1">
          <a:blip r:embed="rId5">
            <a:alphaModFix/>
          </a:blip>
          <a:srcRect l="4006" t="3155" r="69603" b="71482"/>
          <a:stretch/>
        </p:blipFill>
        <p:spPr>
          <a:xfrm>
            <a:off x="5430679" y="2371928"/>
            <a:ext cx="818306" cy="717823"/>
          </a:xfrm>
          <a:prstGeom prst="rect">
            <a:avLst/>
          </a:prstGeom>
          <a:noFill/>
          <a:ln>
            <a:noFill/>
          </a:ln>
        </p:spPr>
      </p:pic>
      <p:pic>
        <p:nvPicPr>
          <p:cNvPr id="559" name="Google Shape;559;g362a475d704_0_232"/>
          <p:cNvPicPr preferRelativeResize="0"/>
          <p:nvPr/>
        </p:nvPicPr>
        <p:blipFill rotWithShape="1">
          <a:blip r:embed="rId5">
            <a:alphaModFix/>
          </a:blip>
          <a:srcRect l="6939" t="38185" r="72721" b="36452"/>
          <a:stretch/>
        </p:blipFill>
        <p:spPr>
          <a:xfrm>
            <a:off x="6285813" y="2410503"/>
            <a:ext cx="562875" cy="64070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60" name="Google Shape;560;g362a475d704_0_232"/>
          <p:cNvGrpSpPr/>
          <p:nvPr/>
        </p:nvGrpSpPr>
        <p:grpSpPr>
          <a:xfrm>
            <a:off x="2236230" y="2208386"/>
            <a:ext cx="1731115" cy="988126"/>
            <a:chOff x="183584" y="2765796"/>
            <a:chExt cx="2135597" cy="1292006"/>
          </a:xfrm>
        </p:grpSpPr>
        <p:pic>
          <p:nvPicPr>
            <p:cNvPr id="561" name="Google Shape;561;g362a475d704_0_232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1715115" y="2850333"/>
              <a:ext cx="597957" cy="6383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62" name="Google Shape;562;g362a475d704_0_232" descr="Gemma models overview | Google AI for Developers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989326" y="2765796"/>
              <a:ext cx="765968" cy="68972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63" name="Google Shape;563;g362a475d704_0_232"/>
            <p:cNvPicPr preferRelativeResize="0"/>
            <p:nvPr/>
          </p:nvPicPr>
          <p:blipFill rotWithShape="1">
            <a:blip r:embed="rId8">
              <a:alphaModFix/>
            </a:blip>
            <a:srcRect l="34474" t="27407" r="32798" b="26700"/>
            <a:stretch/>
          </p:blipFill>
          <p:spPr>
            <a:xfrm>
              <a:off x="342674" y="3432247"/>
              <a:ext cx="753733" cy="6255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64" name="Google Shape;564;g362a475d704_0_232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789353" y="3480112"/>
              <a:ext cx="529828" cy="52982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65" name="Google Shape;565;g362a475d704_0_232"/>
            <p:cNvPicPr preferRelativeResize="0"/>
            <p:nvPr/>
          </p:nvPicPr>
          <p:blipFill rotWithShape="1">
            <a:blip r:embed="rId9">
              <a:alphaModFix/>
            </a:blip>
            <a:srcRect l="17247" t="15409" r="17644" b="10074"/>
            <a:stretch/>
          </p:blipFill>
          <p:spPr>
            <a:xfrm>
              <a:off x="1099016" y="3432243"/>
              <a:ext cx="546588" cy="625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66" name="Google Shape;566;g362a475d704_0_232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183584" y="2826482"/>
              <a:ext cx="1071913" cy="68602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67" name="Google Shape;567;g362a475d704_0_232"/>
          <p:cNvSpPr txBox="1"/>
          <p:nvPr/>
        </p:nvSpPr>
        <p:spPr>
          <a:xfrm>
            <a:off x="3380646" y="2538376"/>
            <a:ext cx="6795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+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8" name="Google Shape;568;g362a475d704_0_232"/>
          <p:cNvSpPr txBox="1"/>
          <p:nvPr/>
        </p:nvSpPr>
        <p:spPr>
          <a:xfrm>
            <a:off x="4637400" y="1027625"/>
            <a:ext cx="4194900" cy="98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mbria"/>
              <a:buChar char="-"/>
            </a:pPr>
            <a:r>
              <a:rPr lang="en" sz="14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C</a:t>
            </a:r>
            <a:r>
              <a:rPr lang="en" sz="14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ommonsense Reasoning (HellaSWAG) </a:t>
            </a:r>
            <a:endParaRPr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mbria"/>
              <a:buChar char="-"/>
            </a:pPr>
            <a:r>
              <a:rPr lang="en" sz="14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U</a:t>
            </a:r>
            <a:r>
              <a:rPr lang="en" sz="14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sual Fallacy Detection (LOGIC)</a:t>
            </a:r>
            <a:endParaRPr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mbria"/>
              <a:buChar char="-"/>
            </a:pPr>
            <a:r>
              <a:rPr lang="en" sz="14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B</a:t>
            </a:r>
            <a:r>
              <a:rPr lang="en" sz="14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asic Reading Comprehension (RACE)</a:t>
            </a:r>
            <a:endParaRPr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mbria"/>
              <a:buChar char="-"/>
            </a:pPr>
            <a:r>
              <a:rPr lang="en" sz="14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E</a:t>
            </a:r>
            <a:r>
              <a:rPr lang="en" sz="14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ssay scoring (Write &amp; Improve, BEA</a:t>
            </a:r>
            <a:r>
              <a:rPr lang="en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’19)</a:t>
            </a:r>
            <a:endParaRPr sz="1400" b="0" i="0" u="none" strike="noStrike" cap="non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grpSp>
        <p:nvGrpSpPr>
          <p:cNvPr id="569" name="Google Shape;569;g362a475d704_0_232"/>
          <p:cNvGrpSpPr/>
          <p:nvPr/>
        </p:nvGrpSpPr>
        <p:grpSpPr>
          <a:xfrm>
            <a:off x="5303420" y="4469723"/>
            <a:ext cx="934557" cy="642055"/>
            <a:chOff x="5592437" y="3691410"/>
            <a:chExt cx="1447803" cy="914479"/>
          </a:xfrm>
        </p:grpSpPr>
        <p:pic>
          <p:nvPicPr>
            <p:cNvPr id="570" name="Google Shape;570;g362a475d704_0_232"/>
            <p:cNvPicPr preferRelativeResize="0"/>
            <p:nvPr/>
          </p:nvPicPr>
          <p:blipFill rotWithShape="1">
            <a:blip r:embed="rId5">
              <a:alphaModFix/>
            </a:blip>
            <a:srcRect l="33884" t="33154" r="37432" b="34846"/>
            <a:stretch/>
          </p:blipFill>
          <p:spPr>
            <a:xfrm>
              <a:off x="6150933" y="3700247"/>
              <a:ext cx="889307" cy="90564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71" name="Google Shape;571;g362a475d704_0_232"/>
            <p:cNvPicPr preferRelativeResize="0"/>
            <p:nvPr/>
          </p:nvPicPr>
          <p:blipFill rotWithShape="1">
            <a:blip r:embed="rId5">
              <a:alphaModFix/>
            </a:blip>
            <a:srcRect l="33884" t="33154" r="37432" b="34846"/>
            <a:stretch/>
          </p:blipFill>
          <p:spPr>
            <a:xfrm>
              <a:off x="5592437" y="3691410"/>
              <a:ext cx="889303" cy="90564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72" name="Google Shape;572;g362a475d704_0_232"/>
          <p:cNvSpPr/>
          <p:nvPr/>
        </p:nvSpPr>
        <p:spPr>
          <a:xfrm>
            <a:off x="893550" y="5387175"/>
            <a:ext cx="7356900" cy="8259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1">
                <a:solidFill>
                  <a:srgbClr val="F1160A"/>
                </a:solidFill>
                <a:latin typeface="Cambria"/>
                <a:ea typeface="Cambria"/>
                <a:cs typeface="Cambria"/>
                <a:sym typeface="Cambria"/>
              </a:rPr>
              <a:t>920 explanations jointly assessed by the LLM and human evaluators.</a:t>
            </a:r>
            <a:endParaRPr sz="1600" b="1">
              <a:solidFill>
                <a:srgbClr val="F1160A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>
                <a:solidFill>
                  <a:srgbClr val="F1160A"/>
                </a:solidFill>
                <a:latin typeface="Cambria"/>
                <a:ea typeface="Cambria"/>
                <a:cs typeface="Cambria"/>
                <a:sym typeface="Cambria"/>
              </a:rPr>
              <a:t>4,140 explanations assessed by the LLM only.</a:t>
            </a:r>
            <a:endParaRPr sz="1600">
              <a:solidFill>
                <a:srgbClr val="F1160A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1">
                <a:solidFill>
                  <a:srgbClr val="F1160A"/>
                </a:solidFill>
                <a:latin typeface="Cambria"/>
                <a:ea typeface="Cambria"/>
                <a:cs typeface="Cambria"/>
                <a:sym typeface="Cambria"/>
              </a:rPr>
              <a:t>Total = 5,060 explanations assessments. </a:t>
            </a:r>
            <a:endParaRPr b="1" i="1">
              <a:solidFill>
                <a:srgbClr val="F1160A"/>
              </a:solidFill>
            </a:endParaRPr>
          </a:p>
        </p:txBody>
      </p:sp>
      <p:sp>
        <p:nvSpPr>
          <p:cNvPr id="573" name="Google Shape;573;g362a475d704_0_232"/>
          <p:cNvSpPr txBox="1"/>
          <p:nvPr/>
        </p:nvSpPr>
        <p:spPr>
          <a:xfrm>
            <a:off x="3182200" y="1305863"/>
            <a:ext cx="1076400" cy="4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4 Tasks</a:t>
            </a:r>
            <a:endParaRPr sz="1800" b="1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2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31"/>
          <p:cNvSpPr txBox="1"/>
          <p:nvPr/>
        </p:nvSpPr>
        <p:spPr>
          <a:xfrm>
            <a:off x="434550" y="30431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" sz="3000" b="1">
                <a:latin typeface="Cambria"/>
                <a:ea typeface="Cambria"/>
                <a:cs typeface="Cambria"/>
                <a:sym typeface="Cambria"/>
              </a:rPr>
              <a:t>Results</a:t>
            </a:r>
            <a:r>
              <a:rPr lang="en" sz="3000" b="1" i="0" u="none" strike="noStrike" cap="non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: Source of </a:t>
            </a:r>
            <a:r>
              <a:rPr lang="en" sz="3000" b="1" i="1" u="none" strike="noStrike" cap="non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bad</a:t>
            </a:r>
            <a:r>
              <a:rPr lang="en" sz="3000" b="0" i="1" u="none" strike="noStrike" cap="non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en" sz="3000" b="1" i="0" u="none" strike="noStrike" cap="non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commentaries</a:t>
            </a:r>
            <a:endParaRPr sz="2100" b="1" i="0" u="none" strike="noStrike" cap="non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579" name="Google Shape;579;p31"/>
          <p:cNvSpPr/>
          <p:nvPr/>
        </p:nvSpPr>
        <p:spPr>
          <a:xfrm>
            <a:off x="240125" y="304325"/>
            <a:ext cx="147600" cy="614400"/>
          </a:xfrm>
          <a:prstGeom prst="roundRect">
            <a:avLst>
              <a:gd name="adj" fmla="val 16667"/>
            </a:avLst>
          </a:prstGeom>
          <a:solidFill>
            <a:srgbClr val="0000D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rgbClr val="FF00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0" name="Google Shape;580;p31"/>
          <p:cNvSpPr/>
          <p:nvPr/>
        </p:nvSpPr>
        <p:spPr>
          <a:xfrm>
            <a:off x="8348100" y="6373475"/>
            <a:ext cx="484200" cy="372300"/>
          </a:xfrm>
          <a:prstGeom prst="roundRect">
            <a:avLst>
              <a:gd name="adj" fmla="val 16667"/>
            </a:avLst>
          </a:prstGeom>
          <a:solidFill>
            <a:srgbClr val="0000D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r>
              <a:rPr lang="en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sz="1400" b="0" i="0" u="none" strike="noStrike" cap="non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581" name="Google Shape;581;p31" title="Screenshot 2025-06-07 at 17.24.09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9363" y="1743425"/>
            <a:ext cx="8445273" cy="2824151"/>
          </a:xfrm>
          <a:prstGeom prst="rect">
            <a:avLst/>
          </a:prstGeom>
          <a:noFill/>
          <a:ln>
            <a:noFill/>
          </a:ln>
        </p:spPr>
      </p:pic>
      <p:sp>
        <p:nvSpPr>
          <p:cNvPr id="582" name="Google Shape;582;p31"/>
          <p:cNvSpPr/>
          <p:nvPr/>
        </p:nvSpPr>
        <p:spPr>
          <a:xfrm>
            <a:off x="5171700" y="1794275"/>
            <a:ext cx="1111200" cy="2149800"/>
          </a:xfrm>
          <a:prstGeom prst="ellipse">
            <a:avLst/>
          </a:prstGeom>
          <a:noFill/>
          <a:ln w="25400" cap="flat" cmpd="sng">
            <a:solidFill>
              <a:srgbClr val="0000DC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3" name="Google Shape;583;p31"/>
          <p:cNvSpPr txBox="1"/>
          <p:nvPr/>
        </p:nvSpPr>
        <p:spPr>
          <a:xfrm>
            <a:off x="387725" y="4875750"/>
            <a:ext cx="8903100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rgbClr val="0000DC"/>
                </a:solidFill>
                <a:latin typeface="Cambria"/>
                <a:ea typeface="Cambria"/>
                <a:cs typeface="Cambria"/>
                <a:sym typeface="Cambria"/>
              </a:rPr>
              <a:t>Low-quality LLM explanations </a:t>
            </a:r>
            <a:r>
              <a:rPr lang="en" sz="2000" dirty="0">
                <a:solidFill>
                  <a:srgbClr val="0000DC"/>
                </a:solidFill>
                <a:latin typeface="Cambria"/>
                <a:ea typeface="Cambria"/>
                <a:cs typeface="Cambria"/>
                <a:sym typeface="Cambria"/>
              </a:rPr>
              <a:t>are due to lack of </a:t>
            </a:r>
            <a:r>
              <a:rPr lang="en" sz="2000" b="1" dirty="0">
                <a:solidFill>
                  <a:srgbClr val="0000DC"/>
                </a:solidFill>
                <a:latin typeface="Cambria"/>
                <a:ea typeface="Cambria"/>
                <a:cs typeface="Cambria"/>
                <a:sym typeface="Cambria"/>
              </a:rPr>
              <a:t>conciseness</a:t>
            </a:r>
            <a:r>
              <a:rPr lang="en" sz="2000" dirty="0">
                <a:solidFill>
                  <a:srgbClr val="0000DC"/>
                </a:solidFill>
                <a:latin typeface="Cambria"/>
                <a:ea typeface="Cambria"/>
                <a:cs typeface="Cambria"/>
                <a:sym typeface="Cambria"/>
              </a:rPr>
              <a:t>.</a:t>
            </a:r>
            <a:endParaRPr sz="2000" dirty="0">
              <a:solidFill>
                <a:srgbClr val="0000DC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2" grpId="0" animBg="1"/>
      <p:bldP spid="583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g3474599f942_0_123"/>
          <p:cNvSpPr txBox="1"/>
          <p:nvPr/>
        </p:nvSpPr>
        <p:spPr>
          <a:xfrm>
            <a:off x="434550" y="30431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" sz="3000" b="1">
                <a:latin typeface="Cambria"/>
                <a:ea typeface="Cambria"/>
                <a:cs typeface="Cambria"/>
                <a:sym typeface="Cambria"/>
              </a:rPr>
              <a:t>Further Results</a:t>
            </a:r>
            <a:endParaRPr sz="2100" b="1" i="0" u="none" strike="noStrike" cap="non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589" name="Google Shape;589;g3474599f942_0_123"/>
          <p:cNvSpPr/>
          <p:nvPr/>
        </p:nvSpPr>
        <p:spPr>
          <a:xfrm>
            <a:off x="240125" y="304325"/>
            <a:ext cx="147600" cy="614400"/>
          </a:xfrm>
          <a:prstGeom prst="roundRect">
            <a:avLst>
              <a:gd name="adj" fmla="val 16667"/>
            </a:avLst>
          </a:prstGeom>
          <a:solidFill>
            <a:srgbClr val="0000D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rgbClr val="FF00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0" name="Google Shape;590;g3474599f942_0_123"/>
          <p:cNvSpPr/>
          <p:nvPr/>
        </p:nvSpPr>
        <p:spPr>
          <a:xfrm>
            <a:off x="8348100" y="6373475"/>
            <a:ext cx="484200" cy="372300"/>
          </a:xfrm>
          <a:prstGeom prst="roundRect">
            <a:avLst>
              <a:gd name="adj" fmla="val 16667"/>
            </a:avLst>
          </a:prstGeom>
          <a:solidFill>
            <a:srgbClr val="0000D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r>
              <a:rPr lang="en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sz="1400" b="0" i="0" u="none" strike="noStrike" cap="non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591" name="Google Shape;591;g3474599f942_0_123"/>
          <p:cNvSpPr txBox="1"/>
          <p:nvPr/>
        </p:nvSpPr>
        <p:spPr>
          <a:xfrm>
            <a:off x="365700" y="1192238"/>
            <a:ext cx="8304300" cy="48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mbria"/>
              <a:buChar char="-"/>
            </a:pPr>
            <a:r>
              <a:rPr lang="en" sz="2000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The types of explanations varied depending on task difficulty</a:t>
            </a:r>
            <a:br>
              <a:rPr lang="en" sz="2000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</a:br>
            <a:r>
              <a:rPr lang="en" sz="1500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(e.g., more arguments in essay scoring)</a:t>
            </a:r>
            <a:r>
              <a:rPr lang="en" sz="1800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.</a:t>
            </a:r>
            <a:endParaRPr sz="1800" dirty="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1800" dirty="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mbria"/>
              <a:buChar char="-"/>
            </a:pPr>
            <a:r>
              <a:rPr lang="en" sz="2000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Task accuracy and our typology correlate </a:t>
            </a:r>
            <a:br>
              <a:rPr lang="en" sz="2000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</a:br>
            <a:r>
              <a:rPr lang="en" sz="1500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(e.g. justifications coincided with higher task accuracy as opposed to commentaries). </a:t>
            </a:r>
            <a:endParaRPr sz="1500" dirty="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1800" dirty="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Char char="-"/>
            </a:pPr>
            <a:r>
              <a:rPr lang="en" sz="2000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LLMs and humans tend to output justifications </a:t>
            </a:r>
            <a:br>
              <a:rPr lang="en" sz="2000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</a:br>
            <a:r>
              <a:rPr lang="en" sz="1500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(i.e. providing evidence).</a:t>
            </a:r>
            <a:endParaRPr sz="1500" dirty="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 dirty="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1" dirty="0">
              <a:solidFill>
                <a:srgbClr val="F1160A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" sz="2000" b="1" dirty="0">
                <a:solidFill>
                  <a:srgbClr val="0000DC"/>
                </a:solidFill>
                <a:latin typeface="Cambria"/>
                <a:ea typeface="Cambria"/>
                <a:cs typeface="Cambria"/>
                <a:sym typeface="Cambria"/>
              </a:rPr>
              <a:t>Our results demonstrate the </a:t>
            </a:r>
            <a:r>
              <a:rPr lang="en" sz="2000" b="1" i="1" dirty="0">
                <a:solidFill>
                  <a:srgbClr val="0000DC"/>
                </a:solidFill>
                <a:latin typeface="Cambria"/>
                <a:ea typeface="Cambria"/>
                <a:cs typeface="Cambria"/>
                <a:sym typeface="Cambria"/>
              </a:rPr>
              <a:t>usefulness</a:t>
            </a:r>
            <a:r>
              <a:rPr lang="en" sz="2000" b="1" dirty="0">
                <a:solidFill>
                  <a:srgbClr val="0000DC"/>
                </a:solidFill>
                <a:latin typeface="Cambria"/>
                <a:ea typeface="Cambria"/>
                <a:cs typeface="Cambria"/>
                <a:sym typeface="Cambria"/>
              </a:rPr>
              <a:t> of our rubric. </a:t>
            </a:r>
            <a:endParaRPr sz="2000" b="1" dirty="0">
              <a:solidFill>
                <a:srgbClr val="0000DC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 dirty="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32"/>
          <p:cNvSpPr txBox="1"/>
          <p:nvPr/>
        </p:nvSpPr>
        <p:spPr>
          <a:xfrm>
            <a:off x="434550" y="30431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" sz="3000" b="1" i="0" u="none" strike="noStrike" cap="non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Conclusion</a:t>
            </a:r>
            <a:endParaRPr sz="2100" b="1" i="0" u="none" strike="noStrike" cap="non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597" name="Google Shape;597;p32"/>
          <p:cNvSpPr txBox="1"/>
          <p:nvPr/>
        </p:nvSpPr>
        <p:spPr>
          <a:xfrm>
            <a:off x="365700" y="1192238"/>
            <a:ext cx="8304300" cy="48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000" b="0" i="0" u="none" strike="noStrike" cap="none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To address the </a:t>
            </a:r>
            <a:r>
              <a:rPr lang="en" sz="2000" b="1" i="0" u="none" strike="noStrike" cap="none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l</a:t>
            </a:r>
            <a:r>
              <a:rPr lang="en" sz="2000" b="1" i="0" u="none" strike="noStrike" cap="none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1"/>
                  </a:ext>
                </a:extLst>
              </a:rPr>
              <a:t>ack of widely-agreed definition</a:t>
            </a:r>
            <a:r>
              <a:rPr lang="en" sz="2000" b="0" i="0" u="none" strike="noStrike" cap="none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2"/>
                  </a:ext>
                </a:extLst>
              </a:rPr>
              <a:t> of what constitutes a </a:t>
            </a:r>
            <a:r>
              <a:rPr lang="en" sz="2000" b="0" i="1" u="none" strike="noStrike" cap="none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3"/>
                  </a:ext>
                </a:extLst>
              </a:rPr>
              <a:t>good</a:t>
            </a:r>
            <a:r>
              <a:rPr lang="en" sz="2000" b="0" i="0" u="none" strike="noStrike" cap="none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4"/>
                  </a:ext>
                </a:extLst>
              </a:rPr>
              <a:t> explanation</a:t>
            </a:r>
            <a:r>
              <a:rPr lang="en" sz="2000" b="0" i="0" u="none" strike="noStrike" cap="none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, we propose:</a:t>
            </a:r>
            <a:endParaRPr sz="2000" b="0" i="0" u="none" strike="noStrike" cap="none" dirty="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 dirty="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914400" marR="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oto Sans Symbols"/>
              <a:buChar char="⮚"/>
            </a:pPr>
            <a:r>
              <a:rPr lang="en" sz="1800" b="1" i="0" u="none" strike="noStrike" cap="none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Rubrik</a:t>
            </a:r>
            <a:r>
              <a:rPr lang="en" sz="1800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, a</a:t>
            </a:r>
            <a:r>
              <a:rPr lang="en" sz="1800" b="0" i="0" u="none" strike="noStrike" cap="none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en" sz="1800" b="1" i="0" u="none" strike="noStrike" cap="none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general-purpose rubric </a:t>
            </a:r>
            <a:r>
              <a:rPr lang="en" sz="1800" b="0" i="0" u="none" strike="noStrike" cap="none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for evaluating the quality of LLM-generated and human-written explanations.</a:t>
            </a:r>
            <a:endParaRPr sz="1800" b="0" i="0" u="none" strike="noStrike" cap="none" dirty="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9144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914400" marR="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oto Sans Symbols"/>
              <a:buChar char="⮚"/>
            </a:pPr>
            <a:r>
              <a:rPr lang="en" sz="1800" b="1" i="0" u="none" strike="noStrike" cap="none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CUBE</a:t>
            </a:r>
            <a:r>
              <a:rPr lang="en" sz="1800" b="0" i="0" u="none" strike="noStrike" cap="none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, a </a:t>
            </a:r>
            <a:r>
              <a:rPr lang="en" sz="1800" b="1" i="0" u="none" strike="noStrike" cap="none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dataset</a:t>
            </a:r>
            <a:r>
              <a:rPr lang="en" sz="1800" b="0" i="0" u="none" strike="noStrike" cap="none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of 26k explanations written by both humans and LLMs across four tasks (Commonsense Reasoning, Fallacy Detection, Reading Comprehension, Essay Scoring), to </a:t>
            </a:r>
            <a:r>
              <a:rPr lang="en" sz="1800" b="1" i="0" u="none" strike="noStrike" cap="none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validate the rubric.</a:t>
            </a:r>
            <a:endParaRPr sz="1800" b="1" i="0" u="none" strike="noStrike" cap="none" dirty="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 dirty="0">
              <a:solidFill>
                <a:srgbClr val="F1160A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000" b="1" i="0" u="none" strike="noStrike" cap="none" dirty="0">
                <a:solidFill>
                  <a:srgbClr val="F1160A"/>
                </a:solidFill>
                <a:latin typeface="Cambria"/>
                <a:ea typeface="Cambria"/>
                <a:cs typeface="Cambria"/>
                <a:sym typeface="Cambria"/>
              </a:rPr>
              <a:t>We hope to advance explanation quality assessment in the future.</a:t>
            </a:r>
            <a:endParaRPr sz="2000" b="1" i="0" u="none" strike="noStrike" cap="none" dirty="0">
              <a:solidFill>
                <a:srgbClr val="F1160A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 dirty="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 dirty="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 dirty="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 dirty="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 dirty="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 dirty="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 dirty="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 dirty="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9144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 dirty="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598" name="Google Shape;598;p32"/>
          <p:cNvSpPr/>
          <p:nvPr/>
        </p:nvSpPr>
        <p:spPr>
          <a:xfrm>
            <a:off x="240125" y="304325"/>
            <a:ext cx="147600" cy="614400"/>
          </a:xfrm>
          <a:prstGeom prst="roundRect">
            <a:avLst>
              <a:gd name="adj" fmla="val 16667"/>
            </a:avLst>
          </a:prstGeom>
          <a:solidFill>
            <a:srgbClr val="F116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rgbClr val="FF00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9" name="Google Shape;599;p32"/>
          <p:cNvSpPr/>
          <p:nvPr/>
        </p:nvSpPr>
        <p:spPr>
          <a:xfrm>
            <a:off x="8348100" y="6373475"/>
            <a:ext cx="484200" cy="372300"/>
          </a:xfrm>
          <a:prstGeom prst="roundRect">
            <a:avLst>
              <a:gd name="adj" fmla="val 16667"/>
            </a:avLst>
          </a:prstGeom>
          <a:solidFill>
            <a:srgbClr val="F116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25</a:t>
            </a:r>
            <a:endParaRPr sz="1400" b="0" i="0" u="none" strike="noStrike" cap="non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600" name="Google Shape;600;p3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96845" y="2395517"/>
            <a:ext cx="215306" cy="257229"/>
          </a:xfrm>
          <a:prstGeom prst="rect">
            <a:avLst/>
          </a:prstGeom>
          <a:noFill/>
          <a:ln>
            <a:noFill/>
          </a:ln>
        </p:spPr>
      </p:pic>
      <p:pic>
        <p:nvPicPr>
          <p:cNvPr id="601" name="Google Shape;601;p3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96845" y="3386117"/>
            <a:ext cx="215306" cy="257229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9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9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9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35"/>
          <p:cNvSpPr txBox="1">
            <a:spLocks noGrp="1"/>
          </p:cNvSpPr>
          <p:nvPr>
            <p:ph type="ctrTitle"/>
          </p:nvPr>
        </p:nvSpPr>
        <p:spPr>
          <a:xfrm>
            <a:off x="248100" y="2017022"/>
            <a:ext cx="8520600" cy="17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4180" b="1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5"/>
                  </a:ext>
                </a:extLst>
              </a:rPr>
              <a:t>Thank you!</a:t>
            </a:r>
            <a:endParaRPr sz="358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607" name="Google Shape;607;p35"/>
          <p:cNvSpPr/>
          <p:nvPr/>
        </p:nvSpPr>
        <p:spPr>
          <a:xfrm>
            <a:off x="248100" y="3689288"/>
            <a:ext cx="8647800" cy="6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8" name="Google Shape;608;p35"/>
          <p:cNvSpPr/>
          <p:nvPr/>
        </p:nvSpPr>
        <p:spPr>
          <a:xfrm rot="5400000">
            <a:off x="-105039" y="105150"/>
            <a:ext cx="2604900" cy="2394600"/>
          </a:xfrm>
          <a:prstGeom prst="rtTriangle">
            <a:avLst/>
          </a:prstGeom>
          <a:solidFill>
            <a:srgbClr val="0000D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9" name="Google Shape;609;p35"/>
          <p:cNvSpPr/>
          <p:nvPr/>
        </p:nvSpPr>
        <p:spPr>
          <a:xfrm rot="10800000">
            <a:off x="6539100" y="111"/>
            <a:ext cx="2604900" cy="2394600"/>
          </a:xfrm>
          <a:prstGeom prst="rtTriangle">
            <a:avLst/>
          </a:prstGeom>
          <a:solidFill>
            <a:srgbClr val="FCDF0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0" name="Google Shape;610;p35"/>
          <p:cNvSpPr/>
          <p:nvPr/>
        </p:nvSpPr>
        <p:spPr>
          <a:xfrm>
            <a:off x="-8" y="4467513"/>
            <a:ext cx="2604900" cy="2394600"/>
          </a:xfrm>
          <a:prstGeom prst="rtTriangle">
            <a:avLst/>
          </a:prstGeom>
          <a:solidFill>
            <a:srgbClr val="F1160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1" name="Google Shape;611;p35"/>
          <p:cNvSpPr txBox="1"/>
          <p:nvPr/>
        </p:nvSpPr>
        <p:spPr>
          <a:xfrm>
            <a:off x="505950" y="3784025"/>
            <a:ext cx="8004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Contact us: </a:t>
            </a:r>
            <a:r>
              <a:rPr lang="en" sz="1800" b="0" i="0" u="sng" strike="noStrike" cap="none">
                <a:solidFill>
                  <a:srgbClr val="0000FF"/>
                </a:solidFill>
                <a:latin typeface="Cambria"/>
                <a:ea typeface="Cambria"/>
                <a:cs typeface="Cambria"/>
                <a:sym typeface="Cambria"/>
              </a:rPr>
              <a:t>dg693@cam.ac.uk</a:t>
            </a:r>
            <a:r>
              <a:rPr lang="en" sz="1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, </a:t>
            </a:r>
            <a:r>
              <a:rPr lang="en" sz="1800" b="0" i="0" u="sng" strike="noStrike" cap="none">
                <a:solidFill>
                  <a:srgbClr val="0000FF"/>
                </a:solidFill>
                <a:latin typeface="Cambria"/>
                <a:ea typeface="Cambria"/>
                <a:cs typeface="Cambria"/>
                <a:sym typeface="Cambria"/>
              </a:rPr>
              <a:t>gjg34@cam.ac.uk</a:t>
            </a:r>
            <a:endParaRPr sz="1400" b="0" i="0" u="sng" strike="noStrike" cap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6|13|9.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4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4|7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8|2.7|6.1|5.8|3.7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4|2.9|9.4|17.9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|2.3|0.5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7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6|9.9|13.1|12.7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4|2.5|11.3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8.4|3.5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|1.9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8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|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3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|5.4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2|0.5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3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9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|3.7|15.7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6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.9|20.7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3|12.4|14.1|7.3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7|5.8|7.3|10.6"/>
</p:tagLst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</TotalTime>
  <Words>2189</Words>
  <Application>Microsoft Macintosh PowerPoint</Application>
  <PresentationFormat>On-screen Show (4:3)</PresentationFormat>
  <Paragraphs>519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7" baseType="lpstr">
      <vt:lpstr>Nunito Light</vt:lpstr>
      <vt:lpstr>Nunito</vt:lpstr>
      <vt:lpstr>Courier New</vt:lpstr>
      <vt:lpstr>Noto Sans Symbols</vt:lpstr>
      <vt:lpstr>Cambria</vt:lpstr>
      <vt:lpstr>Arial</vt:lpstr>
      <vt:lpstr>Times New Roman</vt:lpstr>
      <vt:lpstr>Simple Light</vt:lpstr>
      <vt:lpstr>Rubrik’s Cube: Testing a New Rubric for Evaluating Explanations on the CUBE dataset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Gabrielle Gaudeau</cp:lastModifiedBy>
  <cp:revision>6</cp:revision>
  <dcterms:modified xsi:type="dcterms:W3CDTF">2025-06-28T14:14:55Z</dcterms:modified>
</cp:coreProperties>
</file>